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47088"/>
            <a:ext cx="201168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4CB86"/>
                </a:solidFill>
                <a:latin typeface="Calibri"/>
              </a:rPr>
              <a:t>COURS DE LICENCE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57400"/>
            <a:ext cx="106070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Georgia"/>
              </a:rPr>
              <a:t>Normes et méthodes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Georgia"/>
              </a:rPr>
              <a:t>de sécurité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ED8E2"/>
                </a:solidFill>
                <a:latin typeface="Calibri"/>
              </a:rPr>
              <a:t>Gouverner, normaliser et maîtriser le risque des systèmes d'information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06440"/>
            <a:ext cx="12191695" cy="15240"/>
          </a:xfrm>
          <a:prstGeom prst="rect">
            <a:avLst/>
          </a:prstGeom>
          <a:solidFill>
            <a:srgbClr val="223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4CB86"/>
                </a:solidFill>
                <a:latin typeface="Calibri"/>
              </a:rPr>
              <a:t>Licence 3 · Cours de 40 heures · 10 modules · Travaux dirigés et étude de cas fil rouge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POSITIONNEMENT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De quoi parle ce cours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La sécurité de l'information : protéger la confidentialité, l'intégrité et la disponibilité des données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Les NORMES : des référentiels communs (ISO/IEC 27001, 27002, NIST CSF…) qui définissent les bonnes pratiques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Les MÉTHODES : des démarches outillées (gestion des risques EBIOS, audit, PDCA) pour agir concrètement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Le fil conducteur : gouverner la sécurité, pas seulement empiler des outils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On parle d'organisation, de processus et de décisions — la technique vient servir cette démarche.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E78"/>
                </a:solidFill>
                <a:latin typeface="Calibri"/>
              </a:rPr>
              <a:t>COMPÉTENCES VISÉES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Objectifs pédagogiques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922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Maîtriser le vocabulaire de la sécurité de l'information et du risque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4"/>
            <a:ext cx="402336" cy="402336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9572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Situer et expliquer les grandes normes (famille ISO 27000, NIST CSF 2.0)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9923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Comprendre le fonctionnement d'un SMSI selon ISO/IEC 27001:2022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402336" cy="402336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6027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Conduire une analyse de risque avec ISO 27005 et EBIOS Risk Manager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062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Sélectionner et justifier des mesures de sécurité (ISO/IEC 27002:2022)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4632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28032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80974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Connaître le cadre légal : RGPD, NIS2, DORA, et le rôle de l'ANSSI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49824"/>
            <a:ext cx="402336" cy="402336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431536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541324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Préparer et comprendre un audit de sécurité et un projet de certification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Introduction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PLAN DU 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Le programme en 10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6638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66385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4078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1 · Fondamentaux de la sécurité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Concepts, critères DICP, risque, principes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6638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66385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4078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2 · Gouvernance &amp; cadre normatif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Normes, organismes, famille ISO 27000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48686"/>
            <a:ext cx="5419191" cy="6638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48686"/>
            <a:ext cx="100584" cy="66385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94990"/>
            <a:ext cx="5007711" cy="4078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3 · ISO/IEC 27001:2022 — le SMSI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Clauses 4 à 10, PDCA, certification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2748686"/>
            <a:ext cx="5419191" cy="6638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2748686"/>
            <a:ext cx="100584" cy="66385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2894990"/>
            <a:ext cx="5007711" cy="4078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4 · ISO/IEC 27002:2022 — les mesures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93 mesures, 4 thèmes, attributs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68572"/>
            <a:ext cx="5419191" cy="6638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68572"/>
            <a:ext cx="100584" cy="66385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14876"/>
            <a:ext cx="5007711" cy="4078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5 · Gestion des risques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ISO 27005 &amp; EBIOS Risk Manager v1.5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3863" y="3668572"/>
            <a:ext cx="5419191" cy="6638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3863" y="3668572"/>
            <a:ext cx="100584" cy="66385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8183" y="3814876"/>
            <a:ext cx="5007711" cy="4078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6 · NIST CSF 2.0 &amp; référentiels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6 fonctions, CIS, COBIT, PCI DSS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88458"/>
            <a:ext cx="5419191" cy="6638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588458"/>
            <a:ext cx="100584" cy="66385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734762"/>
            <a:ext cx="5007711" cy="4078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7 · Politiques &amp; mesures concrètes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PSSI, IAM, crypto, journalisation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3863" y="4588458"/>
            <a:ext cx="5419191" cy="6638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3863" y="4588458"/>
            <a:ext cx="100584" cy="66385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8183" y="4734762"/>
            <a:ext cx="5007711" cy="4078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8 · Audit, conformité &amp; droit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Audit, RGPD, NIS2, DORA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08344"/>
            <a:ext cx="5419191" cy="6638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508344"/>
            <a:ext cx="100584" cy="66385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654648"/>
            <a:ext cx="5007711" cy="4078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9 · SecOps, DevSecOps &amp; Cloud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SOC, incident, continuité, cloud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3863" y="5508344"/>
            <a:ext cx="5419191" cy="6638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23863" y="5508344"/>
            <a:ext cx="100584" cy="66385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8183" y="5654648"/>
            <a:ext cx="5007711" cy="4078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10 · Étude de cas &amp; examen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Projet fil rouge : SMSI d'une PME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Introduction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MODALITÉS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Organisation &amp; évaluation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Élément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Détail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Volume horaire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40 h — 10 modules de 4 h (cours + TD)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04744"/>
            <a:ext cx="355021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0474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Pédagogie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04744"/>
            <a:ext cx="754420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0474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Cours, exemples, exercices dirigés, étude de cas fil rouge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68624"/>
            <a:ext cx="355021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46862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Étude de cas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468624"/>
            <a:ext cx="754420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46862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Construction du SMSI d'une PME fictive (module 10)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32504"/>
            <a:ext cx="355021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03250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Évaluation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032504"/>
            <a:ext cx="754420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03250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Contrôle continu (exercices) + projet + examen final écrit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96384"/>
            <a:ext cx="355021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59638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Supports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596384"/>
            <a:ext cx="754420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59638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Diapositives + discours de l'enseignant (ce document)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160264"/>
            <a:ext cx="355021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516026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Références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98852" y="5160264"/>
            <a:ext cx="754420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5156" y="516026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Normes ISO/IEC, guides ANSSI, publications NIST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85216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85216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Les exercices de fin de module préparent directement le projet et l'examen.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Introduction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 i="0">
                <a:solidFill>
                  <a:srgbClr val="223850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A24A"/>
                </a:solidFill>
                <a:latin typeface="Calibri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Fondamentaux de la sécurité de l'information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743200"/>
            <a:ext cx="164592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E4CB86"/>
                </a:solidFill>
                <a:latin typeface="Calibri"/>
              </a:rPr>
              <a:t>Concepts, vocabulaire et principes directeurs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E78"/>
                </a:solidFill>
                <a:latin typeface="Calibri"/>
              </a:rPr>
              <a:t>AU PROGRAMME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Sécurité de l'information vs cybersécurité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Les critères DICP et la triade CIA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Actifs, menaces, vulnérabilités, risques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Grands principes : défense en profondeur, moindre privilège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CE QUE VOUS SAUREZ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Objectifs du module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922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Définir la sécurité de l'information et la distinguer de la cybersécurité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4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9572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Expliquer les critères DICP (disponibilité, intégrité, confidentialité, preuve)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9923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Différencier actif, menace, vulnérabilité, risque et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6027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Décrire la défense en profondeur et le principe de moindre privilège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062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Comprendre pourquoi le facteur humain est central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E78"/>
                </a:solidFill>
                <a:latin typeface="Calibri"/>
              </a:rPr>
              <a:t>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Qu'est-ce que la sécurité de l'information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La protection de l'information sous toutes ses formes : numérique, papier, orale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Un objectif : préserver la valeur de l'information pour l'organisation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Trois périmètres souvent confondus 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36F7B"/>
                </a:solidFill>
                <a:latin typeface="Calibri"/>
              </a:rPr>
              <a:t>      –  </a:t>
            </a:r>
            <a:r>
              <a:rPr sz="1500">
                <a:solidFill>
                  <a:srgbClr val="636F7B"/>
                </a:solidFill>
                <a:latin typeface="Calibri"/>
              </a:rPr>
              <a:t>Sécurité de l'information : toute l'information, tous supports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36F7B"/>
                </a:solidFill>
                <a:latin typeface="Calibri"/>
              </a:rPr>
              <a:t>      –  </a:t>
            </a:r>
            <a:r>
              <a:rPr sz="1500">
                <a:solidFill>
                  <a:srgbClr val="636F7B"/>
                </a:solidFill>
                <a:latin typeface="Calibri"/>
              </a:rPr>
              <a:t>Cybersécurité : ce qui touche au cyberespace et aux systèmes numériques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36F7B"/>
                </a:solidFill>
                <a:latin typeface="Calibri"/>
              </a:rPr>
              <a:t>      –  </a:t>
            </a:r>
            <a:r>
              <a:rPr sz="1500">
                <a:solidFill>
                  <a:srgbClr val="636F7B"/>
                </a:solidFill>
                <a:latin typeface="Calibri"/>
              </a:rPr>
              <a:t>Sécurité des systèmes d'information (SSI) : les SI de l'organisation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La sécurité de l'information est le concept le plus large ; la cybersécurité en est une composante.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LES PROPRIÉTÉS À PROTÉGER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Les critères DICP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Disponibilité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L'information est accessible quand on en a besoin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Intégrité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L'information n'est pas altérée sans autorisation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62756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62756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09060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Confidentialité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Seules les personnes autorisées y accèdent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3762756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3762756"/>
            <a:ext cx="100584" cy="167792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3909060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Preuve / Traçabilité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On peut prouver qui a fait quoi, et quand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La triade anglo-saxonne « CIA » (Confidentiality, Integrity, Availability) ; l'ANSSI y ajoute la Preuve : D-I-C-P.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56A9A"/>
                </a:solidFill>
                <a:latin typeface="Calibri"/>
              </a:rPr>
              <a:t>CE QUE L'ON PROTÈGE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Actif, valeur métier, bien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Actif (ou bien) : tout ce qui a de la valeur pour l'organisation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Valeur métier : une information ou un processus essentiel (ex. le fichier clients, la paie)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Bien support : ce sur quoi repose la valeur métier (serveur, logiciel, personne, local)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Identifier ses actifs est le point de départ de toute démarche de sécurité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On ne peut pas protéger ce que l'on n'a pas recensé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Vocabulaire repris par la méthode EBIOS Risk Manager (module 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03A2E"/>
                </a:solidFill>
                <a:latin typeface="Calibri"/>
              </a:rPr>
              <a:t>LA CHAÎNE DU RISQUE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Menace, vulnérabilité, risque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914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914399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Menace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Un danger potentiel (attaquant, panne, erreur, incendie)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03A2E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11091672" cy="914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1143000" cy="914399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114300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71800"/>
            <a:ext cx="950976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Vulnérabilité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Une faiblesse exploitable (faille, absence de sauvegarde)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13047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03A2E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69079"/>
            <a:ext cx="11091672" cy="914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69079"/>
            <a:ext cx="1143000" cy="914399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69079"/>
            <a:ext cx="114300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069079"/>
            <a:ext cx="950976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Risque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La menace exploite la vulnérabilité → un scénario probable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03A2E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66359"/>
            <a:ext cx="11091672" cy="914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66359"/>
            <a:ext cx="1143000" cy="914399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59"/>
            <a:ext cx="114300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166359"/>
            <a:ext cx="950976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Impact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Les conséquences si le risque se réalise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PANORAMA DES ATTAQUANTS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Qui sont les sources de menace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67792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Cybercriminels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Motivés par l'argent (rançongiciels, fraude)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828800"/>
            <a:ext cx="100584" cy="167792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442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États / espionnage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Attaques ciblées, sophistiquées, discrètes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5604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5604" y="1828800"/>
            <a:ext cx="100584" cy="1677924"/>
          </a:xfrm>
          <a:prstGeom prst="rect">
            <a:avLst/>
          </a:prstGeom>
          <a:solidFill>
            <a:srgbClr val="C2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9924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Hacktivistes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Défense d'une cause, atteinte à l'image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62756"/>
            <a:ext cx="100584" cy="1677924"/>
          </a:xfrm>
          <a:prstGeom prst="rect">
            <a:avLst/>
          </a:prstGeom>
          <a:solidFill>
            <a:srgbClr val="C2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Interne malveillant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Salarié, prestataire mécontent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2122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3762756"/>
            <a:ext cx="100584" cy="1677924"/>
          </a:xfrm>
          <a:prstGeom prst="rect">
            <a:avLst/>
          </a:prstGeom>
          <a:solidFill>
            <a:srgbClr val="636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6442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Erreur humaine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Non malveillante mais très fréquente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5604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5604" y="3762756"/>
            <a:ext cx="100584" cy="1677924"/>
          </a:xfrm>
          <a:prstGeom prst="rect">
            <a:avLst/>
          </a:prstGeom>
          <a:solidFill>
            <a:srgbClr val="636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9924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Panne / accident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Défaillance technique, catastrophe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Menaces intentionnelles ET accidentelles : les deux comptent en sécurité de l'information.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E78"/>
                </a:solidFill>
                <a:latin typeface="Calibri"/>
              </a:rPr>
              <a:t>DEUX NOTIONS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Surface d'attaque &amp; défense en profondeur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Surface d'attaque : l'ensemble des points par lesquels on peut être attaqué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Plus on a de services exposés, plus la surface est grande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Défense en profondeur : empiler plusieurs lignes de défense indépendantes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36F7B"/>
                </a:solidFill>
                <a:latin typeface="Calibri"/>
              </a:rPr>
              <a:t>      –  </a:t>
            </a:r>
            <a:r>
              <a:rPr sz="1500">
                <a:solidFill>
                  <a:srgbClr val="636F7B"/>
                </a:solidFill>
                <a:latin typeface="Calibri"/>
              </a:rPr>
              <a:t>Si une barrière cède, la suivante protège encore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36F7B"/>
                </a:solidFill>
                <a:latin typeface="Calibri"/>
              </a:rPr>
              <a:t>      –  </a:t>
            </a:r>
            <a:r>
              <a:rPr sz="1500">
                <a:solidFill>
                  <a:srgbClr val="636F7B"/>
                </a:solidFill>
                <a:latin typeface="Calibri"/>
              </a:rPr>
              <a:t>Inspirée des châteaux forts : douves, murailles, donjon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Aucune mesure n'est parfaite : on combine des couches complémentaires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Réduire la surface d'attaque + multiplier les couches = deux réflexes fondateurs.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DES RÈGLES D'OR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Les grands principes de sécurité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Moindre privilège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Chacun n'a que les droits strictement nécessaires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828800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442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Besoin d'en connaître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Accès à une info seulement si nécessaire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5604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5604" y="1828800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9924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Défense en profondeur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Plusieurs couches indépendantes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62756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Sécurité par conception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Penser sécurité dès la conception (by design)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2122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3762756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6442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Séparation des tâches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Aucune personne seule ne maîtrise tout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5604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5604" y="3762756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9924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Zero Trust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Ne jamais faire confiance par défaut, toujours vérifier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Ces principes irriguent les normes ISO et NIST que nous verrons ensuite.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0000" b="1" i="0">
                <a:solidFill>
                  <a:srgbClr val="C7A24A"/>
                </a:solidFill>
                <a:latin typeface="Georgia"/>
              </a:rPr>
              <a:t>≈ 80 %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10149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des incidents de sécurité impliquent, à un moment, un facteur humain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257800"/>
            <a:ext cx="9235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CED8E2"/>
                </a:solidFill>
                <a:latin typeface="Calibri"/>
              </a:rPr>
              <a:t>Ordre de grandeur couramment cité : erreur, négligence, manipulation. La technique seule ne suffit jamais.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✎  Travaux dirigés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0" y="457200"/>
            <a:ext cx="1490472" cy="457200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0" y="457200"/>
            <a:ext cx="1490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⏱  30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1B2A"/>
                </a:solidFill>
                <a:latin typeface="Georgia"/>
              </a:rPr>
              <a:t>Exercice — Cartographier un risque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C2733"/>
                </a:solidFill>
                <a:latin typeface="Calibri"/>
              </a:rPr>
              <a:t>En binôme, choisissez une organisation simple (une bibliothèque municipale, une petite boutique en ligne) et appliquez le vocabulaire du module.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066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Lister 3 valeurs métier et leurs biens supports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7355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Pour chaque valeur, indiquer le critère DICP le plus important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7705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4048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Identifier 2 menaces et 2 vulnérabilités plausibles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43983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25695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07407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Formuler 1 risque sous la forme « menace + vulnérabilité → impact 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02352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02352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4CB86"/>
                </a:solidFill>
                <a:latin typeface="Calibri"/>
              </a:rPr>
              <a:t>Livrable attendu : Un tableau d'une page présenté oralement en 3 minutes.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7A24A"/>
                </a:solidFill>
                <a:latin typeface="Calibri"/>
              </a:rPr>
              <a:t>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223850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98755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FFFFFF"/>
                </a:solidFill>
                <a:latin typeface="Georgia"/>
              </a:rPr>
              <a:t>La sécurité de l'information protège quatre critères — Disponibilité, Intégrité, Confidentialité, Preuve — sur des actifs qu'il faut d'abord recenser. Le risque naît d'une menace exploitant une vulnérabilité. On s'en protège par des principes simples et par des couches successives.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5296" y="5440680"/>
            <a:ext cx="1097280" cy="3175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5532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E4CB86"/>
                </a:solidFill>
                <a:latin typeface="Calibri"/>
              </a:rPr>
              <a:t>Synthèse — Fondamentaux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 i="0">
                <a:solidFill>
                  <a:srgbClr val="223850"/>
                </a:solidFill>
                <a:latin typeface="Georgi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A24A"/>
                </a:solidFill>
                <a:latin typeface="Calibri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Gouvernance et cadre normatif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743200"/>
            <a:ext cx="164592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E4CB86"/>
                </a:solidFill>
                <a:latin typeface="Calibri"/>
              </a:rPr>
              <a:t>Pourquoi les organisations ont besoin de règles, de rôles et de référentiels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E78"/>
                </a:solidFill>
                <a:latin typeface="Calibri"/>
              </a:rPr>
              <a:t>AU PROGRAMME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Gouvernance SSI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Norme, standard, règlement, référentiel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Acteurs : ISO, NIST, ANSSI, CNIL, ENISA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Famille ISO/IEC 27000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Cycle PDCA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CE QUE VOUS SAUREZ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Objectifs du module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922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Expliquer pourquoi la sécurité doit être gouvernée par la direction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4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9572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Distinguer norme, standard, règlement, guide et référentiel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9923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Identifier les principaux organismes de référence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6027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Situer la famille ISO/IEC 27000 dans un programme de sécurité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062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Comprendre le cycle d'amélioration continue PDCA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E78"/>
                </a:solidFill>
                <a:latin typeface="Calibri"/>
              </a:rPr>
              <a:t>ENJEU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Pourquoi gouverner la sécurité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La sécurité est un risque d'entreprise : financier, juridique, opérationnel et d'image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Elle nécessite des arbitrages : budget, priorités, acceptation du risque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La direction fixe l'appétence au risque et les responsabilités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Les équipes techniques appliquent une stratégie, elles ne la remplacent 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VOCABULAIRE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Norme, standard, règlement, référentiel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Terme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Sens pratique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Norme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Document reconnu, souvent international, issu d'un organisme de normalisation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Standard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Pratique largement adoptée, parfois industrielle ou communautaire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Règlement / loi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Obligation juridique contraignante : non-respect = sanctions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Guide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Recommandations opérationnelles, souvent non obligatoires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0118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Référentiel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90118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90118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Ensemble structuré d'exigences, contrôles ou critères d'évaluation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ÉCOSYSTÈME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Les organismes à connaître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ISO/IEC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Normes internationales, dont la famille 27000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828800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828800"/>
            <a:ext cx="100584" cy="204368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442" y="1975104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NIST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Référentiels américains très utilisés : CSF, SP 800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5604" y="1828800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5604" y="1828800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9924" y="1975104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ANSSI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Autorité nationale française en cybersécurité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28516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28516"/>
            <a:ext cx="100584" cy="20436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74820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CNIL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Protection des données personnelles et RGPD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2122" y="4128516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4128516"/>
            <a:ext cx="100584" cy="204368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6442" y="4274820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ENISA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Agence européenne de cybersécurité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5604" y="4128516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5604" y="4128516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9924" y="4274820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CIS / OWASP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Bonnes pratiques opérationnelles et applicatives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CARTOGRAPHIE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La famille ISO/IEC 27000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1033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033272"/>
          </a:xfrm>
          <a:prstGeom prst="rect">
            <a:avLst/>
          </a:prstGeom>
          <a:solidFill>
            <a:srgbClr val="636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ISO/IEC 27000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Vocabulaire et vue d'ensemble des SMSI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1033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1033272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ISO/IEC 27001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Exigences certifiables du SMSI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18104"/>
            <a:ext cx="5419191" cy="1033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18104"/>
            <a:ext cx="100584" cy="1033272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500771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ISO/IEC 27002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Mesures de sécurité et guide de bonnes pratiques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3118104"/>
            <a:ext cx="5419191" cy="1033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3118104"/>
            <a:ext cx="100584" cy="1033272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3264408"/>
            <a:ext cx="500771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ISO/IEC 27005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Gestion des risques de sécurité de l'information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07408"/>
            <a:ext cx="5419191" cy="1033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07408"/>
            <a:ext cx="100584" cy="1033272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53712"/>
            <a:ext cx="500771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ISO/IEC 27017 / 27018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Sécurité cloud et données personnelles dans le cloud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3863" y="4407408"/>
            <a:ext cx="5419191" cy="1033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3863" y="4407408"/>
            <a:ext cx="100584" cy="103327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8183" y="4553712"/>
            <a:ext cx="500771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ISO/IEC 27701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Extension management de la vie privée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27001 dit ce qui est exigé ; 27002 aide à choisir et mettre en œuvre les mesures.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LIRE CORRECTEMENT UNE NORME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Exigences vs mesures de sécurité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94960" cy="54864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65376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Exigence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4937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Ce qui doit être démontré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Souvent formulé en « l'organisation doit… »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Vérifiable lors d'un audit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Exemple : réaliser des audits internes planifiés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828800"/>
            <a:ext cx="5394960" cy="54864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65376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Mesure / contrôle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42032"/>
            <a:ext cx="4937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Ce qui traite concrètement un risque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Peut être organisationnel, humain, physique ou technique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Doit être justifié par l'analyse de risque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Exemple : MFA, sauvegardes,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AMÉLIORATION CONTINUE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Le cycle PDCA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914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914399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Plan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Comprendre le contexte, fixer objectifs, évaluer les risques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11091672" cy="914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1143000" cy="914399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114300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71800"/>
            <a:ext cx="950976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Do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Mettre en œuvre politiques, processus et mesures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13047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69079"/>
            <a:ext cx="11091672" cy="914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69079"/>
            <a:ext cx="1143000" cy="914399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69079"/>
            <a:ext cx="114300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069079"/>
            <a:ext cx="950976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Check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Mesurer, auditer, analyser les incidents et indicateurs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66359"/>
            <a:ext cx="11091672" cy="914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66359"/>
            <a:ext cx="1143000" cy="914399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59"/>
            <a:ext cx="114300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166359"/>
            <a:ext cx="950976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Act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Corriger, améliorer, réviser le plan et les priorités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QUI DÉCIDE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Rôles de gouvernance SSI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Rôle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Responsabilité typique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Direction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Fixe l'appétence au risque, approuve les moyens et arbitre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04744"/>
            <a:ext cx="355021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0474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RSSI / CISO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04744"/>
            <a:ext cx="754420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0474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Anime la stratégie, conseille, coordonne et rend compte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68624"/>
            <a:ext cx="355021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46862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DSI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468624"/>
            <a:ext cx="754420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46862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Met en œuvre les moyens techniques et l'exploitation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32504"/>
            <a:ext cx="355021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03250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Métiers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032504"/>
            <a:ext cx="754420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03250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Expriment les besoins, possèdent les risques métier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96384"/>
            <a:ext cx="355021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59638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Juridique / DPO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596384"/>
            <a:ext cx="754420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59638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Traite obligations contractuelles, RGPD et preuves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160264"/>
            <a:ext cx="355021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516026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Auditeur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98852" y="5160264"/>
            <a:ext cx="754420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5156" y="516026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Évalue objectivement la conformité et l'efficacité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85216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85216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Un risque appartient au métier qui porte l'activité, pas uniquement à l'IT.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56A9A"/>
                </a:solidFill>
                <a:latin typeface="Calibri"/>
              </a:rPr>
              <a:t>GOUVERNANCE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La documentation : preuve et mémoire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Politique de sécurité : intention et engagements de haut niveau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Procédures : comment réaliser une activité de façon répétable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Enregistrements : preuves qu'une activité a bien été faite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Versioning, approbation, diffusion et revue périodique sont essentiels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Sans preuve, l'auditeur considère souvent que l'action n'est pas démontrée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✎  Travaux dirigés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0" y="457200"/>
            <a:ext cx="1490472" cy="457200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0" y="457200"/>
            <a:ext cx="1490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⏱  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1B2A"/>
                </a:solidFill>
                <a:latin typeface="Georgia"/>
              </a:rPr>
              <a:t>TD — Cartographier l'écosystème normatif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C2733"/>
                </a:solidFill>
                <a:latin typeface="Calibri"/>
              </a:rPr>
              <a:t>À partir d'une organisation fictive (PME e-commerce, clinique, université), identifier les référentiels utiles.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066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Lister 5 parties prenantes : clients, régulateurs, fournisseurs, direction, utilisateurs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7355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Associer à chacune au moins une attente de sécurité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7705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4048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Choisir les référentiels pertinents : ISO 27001, RGPD, guide ANSSI, NIST CSF, CIS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43983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25695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07407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Justifier ce qui relève de l'obligation, de la bonne pratique ou de l'exigence contractuelle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02352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02352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4CB86"/>
                </a:solidFill>
                <a:latin typeface="Calibri"/>
              </a:rPr>
              <a:t>Livrable attendu : Une carte parties prenantes → exigences → référentiels.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7A24A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223850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98755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FFFFFF"/>
                </a:solidFill>
                <a:latin typeface="Georgia"/>
              </a:rPr>
              <a:t>La gouvernance donne un cadre aux décisions de sécurité. Les normes et référentiels ne remplacent pas le jugement : ils structurent les responsabilités, les preuves et l'amélioration continue.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5296" y="5440680"/>
            <a:ext cx="1097280" cy="3175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5532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E4CB86"/>
                </a:solidFill>
                <a:latin typeface="Calibri"/>
              </a:rPr>
              <a:t>Module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 i="0">
                <a:solidFill>
                  <a:srgbClr val="223850"/>
                </a:solidFill>
                <a:latin typeface="Georgi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A24A"/>
                </a:solidFill>
                <a:latin typeface="Calibri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ISO/IEC 27001:2022 — construire un SMSI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743200"/>
            <a:ext cx="164592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E4CB86"/>
                </a:solidFill>
                <a:latin typeface="Calibri"/>
              </a:rPr>
              <a:t>Le système de management de la sécurité de l'information, ses clauses et son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E78"/>
                </a:solidFill>
                <a:latin typeface="Calibri"/>
              </a:rPr>
              <a:t>AU PROGRAMME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SMSI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Clauses 4 à 10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Périmètre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SoA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Certification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Amélioration continue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CE QUE VOUS SAUREZ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Objectifs du module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922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Définir ce qu'est un SMSI et ce qu'il n'est pas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4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9572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Expliquer les clauses 4 à 10 d'ISO/IEC 27001:2022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9923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Rédiger les éléments clés d'un périmètre SMSI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6027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Comprendre le rôle central de la déclaration d'applicabilité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062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Décrire le cycle de certification et de surveillance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E78"/>
                </a:solidFill>
                <a:latin typeface="Calibri"/>
              </a:rPr>
              <a:t>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Un SMSI, ce n'est pas un logiciel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SMSI = système de management de la sécurité de l'information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Ensemble coordonné : politiques, processus, rôles, mesures, preuves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Objectif : gérer durablement les risques liés à l'information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Il s'intègre aux processus de l'organisation et s'améliore en continu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STRUCTURE ISO 27001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Les clauses 4 à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Clause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Question à laquelle elle répond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483325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4 · Contexte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483325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Qui sommes-nous, quelles attentes, quel périmètre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24189"/>
            <a:ext cx="3550212" cy="483325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824189"/>
            <a:ext cx="327589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5 · Leadership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824189"/>
            <a:ext cx="7544202" cy="483325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824189"/>
            <a:ext cx="726988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Qui porte la sécurité et avec quelle politique 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07514"/>
            <a:ext cx="3550212" cy="483325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307514"/>
            <a:ext cx="327589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6 · Planification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307514"/>
            <a:ext cx="7544202" cy="483325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307514"/>
            <a:ext cx="726988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Quels risques, objectifs et plans de traitement 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90839"/>
            <a:ext cx="3550212" cy="483325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790839"/>
            <a:ext cx="327589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7 · Support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3790839"/>
            <a:ext cx="7544202" cy="483325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3790839"/>
            <a:ext cx="726988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Quelles ressources, compétences, communications, preuves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74164"/>
            <a:ext cx="3550212" cy="483325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274164"/>
            <a:ext cx="327589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8 · Opération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274164"/>
            <a:ext cx="7544202" cy="483325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274164"/>
            <a:ext cx="726988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Comment exécute-t-on les processus du SMSI 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57489"/>
            <a:ext cx="3550212" cy="483325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4757489"/>
            <a:ext cx="327589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9 · Évaluation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98852" y="4757489"/>
            <a:ext cx="7544202" cy="483325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5156" y="4757489"/>
            <a:ext cx="726988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Comment mesure-t-on, audite-t-on, révise-t-on 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40814"/>
            <a:ext cx="3550212" cy="483325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5240814"/>
            <a:ext cx="327589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10 · Amélioration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98852" y="5240814"/>
            <a:ext cx="7544202" cy="483325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45156" y="5240814"/>
            <a:ext cx="7269882" cy="483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Comment corriger et améliorer en continu 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85216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85216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Ces clauses sont les exigences certifiables : l'auditeur les vérifie systématiquement.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CLAUSE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Définir le périmètre du SMSI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Inclure : entités, sites, processus, systèmes, données, interfaces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Justifier les exclusions : elles doivent être cohérentes et défendables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Identifier les parties intéressées et leurs exigences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Relier le périmètre aux risques et aux objectifs métier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CLAUSE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Leadership : engagements attendus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94960" cy="54864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65376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Ce que l'auditeur 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4937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Une politique approuvée par la direction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Des responsabilités attribuées et connues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Des ressources effectivement allouées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Des preuves de revues et décisions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828800"/>
            <a:ext cx="5394960" cy="5486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65376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Signes de faiblesse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42032"/>
            <a:ext cx="4937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03A2E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Politique copiée-collée non connue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03A2E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RSSI isolé sans pouvoir d'arbitrage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03A2E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Objectifs sécurité non suivis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03A2E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Aucune trace de décision de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CLAUSE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Planification : risques → objectifs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914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914399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Critères de risque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Définir échelles, seuils d'acceptation et responsabilités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11091672" cy="914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1143000" cy="914399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114300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71800"/>
            <a:ext cx="950976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Appréciation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Identifier, analyser et évaluer les risques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13047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69079"/>
            <a:ext cx="11091672" cy="914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69079"/>
            <a:ext cx="1143000" cy="914399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69079"/>
            <a:ext cx="114300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069079"/>
            <a:ext cx="950976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Traitement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Choisir mesures, acceptation, transfert ou évitement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66359"/>
            <a:ext cx="11091672" cy="9143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66359"/>
            <a:ext cx="1143000" cy="914399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66359"/>
            <a:ext cx="114300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166359"/>
            <a:ext cx="9509760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Objectifs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Fixer des objectifs mesurables et un plan pour les atteindre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CLAUSE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Support : faire vivre le système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Ressources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Budget, outils, temps, responsabilités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828800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442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Compétence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Former les personnes selon leurs rôles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5604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5604" y="1828800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9924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Sensibilisation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Faire comprendre la politique et les impacts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62756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Communication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Qui communique quoi, quand, à qui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2122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3762756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6442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Information documentée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Créer, mettre à jour, maîtriser les preuves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5604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5604" y="3762756"/>
            <a:ext cx="100584" cy="167792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9924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Traçabilité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Démontrer que le SMSI fonctionne réellement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Le SMSI ne vit pas dans un classeur : il vit dans les habitudes et les preuves.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CLAUSES 8, 9,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Opération, évaluation, amélioration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Opérer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Exécuter les processus : risques, traitements, contrôles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Mesurer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Suivre indicateurs, incidents, écarts, efficacité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Auditer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Vérifier objectivement conformité et fonctionnement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Revoir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La direction arbitre sur la base des résultats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Corriger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Traiter non-conformités et améliorer le SMSI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DOCUMENT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La déclaration d'applicabilité (SoA)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Contenu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Pourquoi c'est important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Mesures nécessaires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Montre ce que l'organisation a choisi de mettre en 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Justification d'inclusion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Relie chaque mesure au risque ou à l'exigence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Statut de mise en œuvre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Indique ce qui est fait, partiel ou prévu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Justification d'exclusion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Explique pourquoi une mesure Annex A n'est pas retenue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0118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Lien au plan de traitement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90118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90118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Fait le pont entre risques, décisions et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AUDIT EXTERNE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Le cycle de certification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Préparation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Gap analysis, preuves, audit interne, revue de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Stage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Revue documentaire : le SMSI est-il prêt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Stage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Audit de mise en œuvre : le SMSI fonctionne-t-il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Surveillance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Audits annuels partiels pendant le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Recertification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Audit complet tous les trois 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✎  Travaux dirigés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0" y="457200"/>
            <a:ext cx="1490472" cy="457200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0" y="457200"/>
            <a:ext cx="1490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⏱  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1B2A"/>
                </a:solidFill>
                <a:latin typeface="Georgia"/>
              </a:rPr>
              <a:t>TD — Définir un périmètre SMSI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C2733"/>
                </a:solidFill>
                <a:latin typeface="Calibri"/>
              </a:rPr>
              <a:t>Pour une PME SaaS fictive, rédiger un périmètre ISO 27001 défendable.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066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Décrire l'activité, les clients et les informations sensibles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7355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Inclure/exclure sites, équipes, systèmes et processus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7705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4048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Identifier 5 parties intéressées et leurs attentes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43983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25695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07407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Rédiger une phrase de périmètre en langage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02352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02352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4CB86"/>
                </a:solidFill>
                <a:latin typeface="Calibri"/>
              </a:rPr>
              <a:t>Livrable attendu : Un paragraphe de périmètre + une liste d'exclusions justifiées.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7A24A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223850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98755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FFFFFF"/>
                </a:solidFill>
                <a:latin typeface="Georgia"/>
              </a:rPr>
              <a:t>ISO/IEC 27001:2022 structure le SMSI autour d'un cycle de management : contexte, leadership, planification, support, opération, évaluation et amélioration. Le périmètre, le registre de risques et la SoA en sont les pièces maîtresses.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5296" y="5440680"/>
            <a:ext cx="1097280" cy="3175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5532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E4CB86"/>
                </a:solidFill>
                <a:latin typeface="Calibri"/>
              </a:rPr>
              <a:t>Module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 i="0">
                <a:solidFill>
                  <a:srgbClr val="223850"/>
                </a:solidFill>
                <a:latin typeface="Georgia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A24A"/>
                </a:solidFill>
                <a:latin typeface="Calibri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ISO/IEC 27002:2022 — choisir et appliquer les mesures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743200"/>
            <a:ext cx="164592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E4CB86"/>
                </a:solidFill>
                <a:latin typeface="Calibri"/>
              </a:rPr>
              <a:t>Comprendre les 93 mesures de sécurité, leurs thèmes et leur sélection par le risque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E78"/>
                </a:solidFill>
                <a:latin typeface="Calibri"/>
              </a:rPr>
              <a:t>AU PROGRAMME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27001 vs 27002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93 mesures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4 thèmes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11 nouveautés 2022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Attributs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Sélection des contrôles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CE QUE VOUS SAUREZ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Objectifs du module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922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Différencier ISO/IEC 27001 et ISO/IEC 27002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4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9572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Présenter les 4 thèmes et 93 mesures de l'édition 2022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9923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Classer les mesures selon leur type et leur objectif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6027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Choisir des mesures à partir d'un risque identifié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062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Documenter l'applicabilité et les preuves attendues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COMPLÉMENTARITÉ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ISO 27001 vs ISO 27002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94960" cy="54864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65376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ISO/IEC 27001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4937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Standard d'exigences certifiable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Définit le SMSI et ses clauses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Demande d'identifier et traiter les risques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Annex A sert de référence de mesures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828800"/>
            <a:ext cx="5394960" cy="54864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65376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ISO/IEC 27002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42032"/>
            <a:ext cx="4937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Guide de bonnes pratiques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Explique les mesures de sécurité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Aide à les sélectionner et les mettre en œuvre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Non certifiable directement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ISO/IEC 27002:2022 en chiffres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93 mesures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Référence Annex A alignée ISO 27001:2022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4 thèmes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Organisationnel, personnes, physique, technologique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62756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62756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09060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11 nouvelles mesures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Cloud, threat intelligence, secure coding, DLP…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3762756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3762756"/>
            <a:ext cx="100584" cy="167792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3909060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Attributs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Vues par type, propriétés DICP, concepts cyber, capacités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L'édition 2022 simplifie la structure : 114 contrôles/14 domaines en 2013 → 93 mesures/4 thèmes.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A.5 · 37 MESURES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Thème 1 — Mesures organisationnelles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Politiques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Règles et responsabilités de 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828800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828800"/>
            <a:ext cx="100584" cy="204368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442" y="1975104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Gestion des actifs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Inventaire, classification, usage acceptable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5604" y="1828800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5604" y="1828800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9924" y="1975104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Fournisseurs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Contrats, exigences, surveillance, supply chain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28516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28516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74820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Cloud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Sécurité de l'utilisation des services 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2122" y="4128516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4128516"/>
            <a:ext cx="100584" cy="20436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6442" y="4274820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Incidents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Préparation, décision, réponse, preuve, retour d'expérience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5604" y="4128516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5604" y="4128516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9924" y="4274820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Conformité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Lois, propriété intellectuelle, données personnelles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A.6 · 8 MESURES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Thème 2 — Personnes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Avant l'emploi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Screening proportionné, conditions d'emploi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204368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Pendant l'emploi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Sensibilisation, formation, processus disciplinaire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28516"/>
            <a:ext cx="100584" cy="20436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Changement / départ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Responsabilités après terminaison ou changement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4128516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Télétravail &amp; signalement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Règles hors site et canal de remontée d'événements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A.7 · 14 MESURES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Thème 3 — Physique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Périmètres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Zones, badges, visiteurs, salles sensibles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204368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Surveillance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Détection intrusion, vidéo, journal visiteurs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28516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Environnement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Feu, eau, énergie, climatisation, protections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4128516"/>
            <a:ext cx="100584" cy="20436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Équipements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Positionnement, maintenance, effacement, destruction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A.8 · 34 MESURES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Thème 4 — Technologique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Identités &amp; accès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Authentification, privilèges, restriction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828800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442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Postes &amp; malware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Terminaux, anti-malware, filtrage web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5604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5604" y="1828800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9924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Vulnérabilités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Patch, configuration, durcissement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62756"/>
            <a:ext cx="100584" cy="167792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Données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Chiffrement, masquage, suppression, DLP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2122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3762756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6442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Réseau &amp; logs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Segmentation, services réseau, journalisation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5604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5604" y="3762756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9924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Développement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Cycle de vie sécurisé, exigences, test, code sûr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Les mesures techniques ne se choisissent pas seules : elles doivent répondre à un risque ou une exigence.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MISE À JOUR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Les 11 nouvelles mesures de l'édition 2022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Mesure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Pourquoi elle apparaît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3075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A.5.7 Threat intelligence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3075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Mieux intégrer la connaissance de la menace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48434"/>
            <a:ext cx="3550212" cy="30757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648434"/>
            <a:ext cx="327589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A.5.23 Cloud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648434"/>
            <a:ext cx="7544202" cy="30757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648434"/>
            <a:ext cx="726988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Clarifier la responsabilité partagée du cloud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56004"/>
            <a:ext cx="3550212" cy="3075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956004"/>
            <a:ext cx="327589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A.5.30 ICT readiness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2956004"/>
            <a:ext cx="7544202" cy="3075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2956004"/>
            <a:ext cx="726988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Relier sécurité et continuité d'activité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63574"/>
            <a:ext cx="3550212" cy="30757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263574"/>
            <a:ext cx="327589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A.7.4 Physical monitoring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3263574"/>
            <a:ext cx="7544202" cy="30757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3263574"/>
            <a:ext cx="726988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Surveiller les accès physiques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571144"/>
            <a:ext cx="3550212" cy="3075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3571144"/>
            <a:ext cx="327589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A.8.9 Configuration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3571144"/>
            <a:ext cx="7544202" cy="3075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3571144"/>
            <a:ext cx="726988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Maîtriser les configurations et dérives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78714"/>
            <a:ext cx="3550212" cy="30757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3878714"/>
            <a:ext cx="327589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A.8.10 Information deletion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98852" y="3878714"/>
            <a:ext cx="7544202" cy="30757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5156" y="3878714"/>
            <a:ext cx="726988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Supprimer correctement les données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86284"/>
            <a:ext cx="3550212" cy="3075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4186284"/>
            <a:ext cx="327589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A.8.11 Data masking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98852" y="4186284"/>
            <a:ext cx="7544202" cy="3075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45156" y="4186284"/>
            <a:ext cx="726988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Limiter l'exposition des données sensibles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493854"/>
            <a:ext cx="3550212" cy="30757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493854"/>
            <a:ext cx="327589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A.8.12 DLP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98852" y="4493854"/>
            <a:ext cx="7544202" cy="30757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45156" y="4493854"/>
            <a:ext cx="726988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Réduire les fuites d'information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01424"/>
            <a:ext cx="3550212" cy="3075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" y="4801424"/>
            <a:ext cx="327589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A.8.16 Monitoring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98852" y="4801424"/>
            <a:ext cx="7544202" cy="3075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45156" y="4801424"/>
            <a:ext cx="726988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Détecter les comportements anormaux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8994"/>
            <a:ext cx="3550212" cy="30757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5108994"/>
            <a:ext cx="327589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A.8.23 Web filtering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98852" y="5108994"/>
            <a:ext cx="7544202" cy="30757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45156" y="5108994"/>
            <a:ext cx="726988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Réduire les accès web dangereux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416564"/>
            <a:ext cx="3550212" cy="3075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" y="5416564"/>
            <a:ext cx="327589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A.8.28 Secure coding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98852" y="5416564"/>
            <a:ext cx="7544202" cy="30757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45156" y="5416564"/>
            <a:ext cx="7269882" cy="307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Prévenir les vulnérabilités applicatives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585216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585216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Ces nouveautés reflètent l'évolution du cloud, du développement logiciel et de la menace.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CRÉER DES VUES UTILES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Attributs des mesures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Attribut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Utilité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Préventif, détectif, correctif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Propriétés sécurité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Confidentialité, intégrité, disponibilité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Concept cyber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Identifier, protéger, détecter, répondre, rétablir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Capacité opérationnelle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IAM, gouvernance, sécurité applicative, continuité…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0118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Domaine de sécurité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90118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90118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Gouvernance, protection, défense, résilience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Sélectionner une mesure par le risque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Scénario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Formuler un risque clair : menace + vulnérabilité +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Besoin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Identifier le critère DICP à protéger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Options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Comparer mesures possibles : coût, efficacité, faisabilité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Choix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Documenter inclusion/exclusion dans la SoA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Preuve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Définir comment l'efficacité sera démontrée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✎  Travaux dirigés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0" y="457200"/>
            <a:ext cx="1490472" cy="457200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0" y="457200"/>
            <a:ext cx="1490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⏱  50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1B2A"/>
                </a:solidFill>
                <a:latin typeface="Georgia"/>
              </a:rPr>
              <a:t>TD — Choisir des contrôles ISO 27002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C2733"/>
                </a:solidFill>
                <a:latin typeface="Calibri"/>
              </a:rPr>
              <a:t>À partir d'un risque de fuite de données clients, sélectionner des mesures ISO 27002 adaptées.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066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Formuler le risque et le critère DICP principal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7355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Choisir 6 mesures : au moins une organisationnelle, une humaine et une technique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7705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4048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Justifier chaque mesure par rapport au risque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43983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25695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07407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Indiquer une preuve d'audit attendue pour chaque mesure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02352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02352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4CB86"/>
                </a:solidFill>
                <a:latin typeface="Calibri"/>
              </a:rPr>
              <a:t>Livrable attendu : Mini-SoA : mesure → justification → preuve attendue.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7A24A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223850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98755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FFFFFF"/>
                </a:solidFill>
                <a:latin typeface="Georgia"/>
              </a:rPr>
              <a:t>ISO/IEC 27002:2022 est une boîte à outils de 93 mesures. On ne les applique pas mécaniquement : on les sélectionne selon les risques, les exigences et les preuves attendues.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5296" y="5440680"/>
            <a:ext cx="1097280" cy="3175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5532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E4CB86"/>
                </a:solidFill>
                <a:latin typeface="Calibri"/>
              </a:rPr>
              <a:t>Module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 i="0">
                <a:solidFill>
                  <a:srgbClr val="223850"/>
                </a:solidFill>
                <a:latin typeface="Georgia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A24A"/>
                </a:solidFill>
                <a:latin typeface="Calibri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Méthodes de gestion des risques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743200"/>
            <a:ext cx="164592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E4CB86"/>
                </a:solidFill>
                <a:latin typeface="Calibri"/>
              </a:rPr>
              <a:t>ISO 27005 et EBIOS Risk Manager v1.5 : de l'analyse au plan de traitement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E78"/>
                </a:solidFill>
                <a:latin typeface="Calibri"/>
              </a:rPr>
              <a:t>AU PROGRAMME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Critères de risque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Identification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Analyse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Traitement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EBIOS RM 1.5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Plan de traitement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CE QUE VOUS SAUREZ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Objectifs du module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922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Construire un vocabulaire solide du risque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4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9572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Décrire le cycle ISO 27005 aligné avec ISO 31000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9923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Évaluer impact et vraisemblance avec des critères explicites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6027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Dérouler les 5 ateliers EBIOS Risk Manager v1.5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062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Produire un registre de risques et un plan de traitement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ISO 27005 / ISO 31000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Cycle de gestion du risque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Contexte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Périmètre, critères, parties prenantes, objectifs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Appréciation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Identifier, analyser, évaluer les risques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Traitement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Modifier, éviter, transférer ou accepter le risque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Communication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Partager décisions et responsabilités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Surveillance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Réviser selon incidents, changements et indicateurs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AVANT D'ÉVALUER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Définir les critères de risque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Critère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Question pratique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Échelle d'impact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Quels niveaux : mineur, significatif, majeur, critique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Échelle de vraisemblance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Sur quoi se fonde-t-on : exposition, menace, maturité 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Seuil d'acceptation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À partir de quel niveau faut-il traiter 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Propriétaires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Qui décide d'accepter un risque résiduel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0118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Catégories d'impact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90118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90118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Financier, juridique, image, opérationnel, humain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E78"/>
                </a:solidFill>
                <a:latin typeface="Calibri"/>
              </a:rPr>
              <a:t>CRÉER LES SCÉNARIOS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Identifier les risques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Partir des valeurs métier et biens supports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Associer sources de menace, vulnérabilités et événements redoutés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Formuler le risque comme un scénario compréhensible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Éviter les formulations vagues : « cyberattaque » n'est pas un risque assez précis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Documenter hypothèses et sources utilisées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ÉVALUER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Analyser : impact × vraisemblance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À observer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Conséquences sur DICP, finance, juridique, image, continuité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Vraisemblance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Exposition, facilité d'exploitation, niveau de menace, contrôles existants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Risque initial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Niveau avant mesures additionnelles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Risque résiduel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Niveau après traitement prévu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0118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Priorité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90118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90118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Décision : traiter maintenant, surveiller, accepter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85216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85216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Une matrice de risque n'est qu'un outil de décision : elle ne remplace pas l'argumentation.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DÉCIDER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Options de traitement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204368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Modifier / réduire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Mettre en place des mesures pour diminuer impact ou vraisemblance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20436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Éviter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Arrêter ou changer l'activité trop risquée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28516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Partager / transférer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Assurance, contrat, externalisation partielle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4128516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Accepter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Assumer le risque résiduel à un niveau autorisé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MÉTHODE ANSSI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EBIOS Risk Manager v1.5 : vue d'ensemble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Atelier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Cadrage et socle de sécurité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Atelier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Sources de risque et objectifs visés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Atelier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Scénarios stratégiques dans l'écosystème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Atelier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Scénarios opérationnels techniques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Atelier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Traitement du risque et suivi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EBIOS 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Atelier 1 — Cadrage et socle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Définir l'objet de l'étude et le cadre temporel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Identifier missions, valeurs métier et biens supports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Identifier les événements redoutés et leur gravité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Évaluer les écarts au socle de sécurité existant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B03A2E"/>
                </a:solidFill>
                <a:latin typeface="Calibri"/>
              </a:rPr>
              <a:t>EBIOS 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Atelier 2 — Sources de risque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Identifier qui pourrait attaquer ou nuire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Associer chaque source à un objectif visé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Évaluer motivation, ressources et activité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Retenir les couples source de risque / objectif visé pertinents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56A9A"/>
                </a:solidFill>
                <a:latin typeface="Calibri"/>
              </a:rPr>
              <a:t>EBIOS 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Atelier 3 — Scénarios stratégiques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Cartographier l'écosystème : fournisseurs, partenaires, clients, prestataires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Évaluer la dangerosité des parties prenantes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Construire des chemins d'attaque de haut niveau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Associer les scénarios aux événements redoutés et à la gravité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Les attaques passent souvent par l'écosystème : fournisseur, compte prestataire, API tierce.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E78"/>
                </a:solidFill>
                <a:latin typeface="Calibri"/>
              </a:rPr>
              <a:t>EBIOS 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Atelier 4 — Scénarios opérationnels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Traduire les chemins stratégiques en modes opératoires techniques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Identifier les actions élémentaires sur biens supports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Évaluer la vraisemblance de chaque scénario opérationnel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Produire une synthèse des scénarios de risque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EBIOS 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Atelier 5 — Traitement et suivi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Synthèse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Classer les risques selon leur niveau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Stratégie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Décider traitement, acceptation ou évitement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Mesures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Définir actions, responsables, échéances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Résiduel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Évaluer et faire accepter le risque restant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Suivi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Mettre à jour selon incidents, changements et menaces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✎  Travaux dirigés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0" y="457200"/>
            <a:ext cx="1490472" cy="457200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0" y="457200"/>
            <a:ext cx="1490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⏱  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1B2A"/>
                </a:solidFill>
                <a:latin typeface="Georgia"/>
              </a:rPr>
              <a:t>TD — Construire un scénario EBIOS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C2733"/>
                </a:solidFill>
                <a:latin typeface="Calibri"/>
              </a:rPr>
              <a:t>Sur le cas d'une plateforme de notes universitaires, construire un scénario EBIOS simplifié.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066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Identifier 2 valeurs métier et 2 événements redoutés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7355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Choisir 1 source de risque et 1 objectif visé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7705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4048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Décrire un scénario stratégique via un fournisseur ou utilisateur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43983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25695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07407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Décrire un scénario opérationnel en 4 actions élémentaires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10912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92624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743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Proposer 4 mesures de traitement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69279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69279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4CB86"/>
                </a:solidFill>
                <a:latin typeface="Calibri"/>
              </a:rPr>
              <a:t>Livrable attendu : Fiche scénario : SR/OV, chemin stratégique, mode opératoire, mesures.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7A24A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223850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98755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FFFFFF"/>
                </a:solidFill>
                <a:latin typeface="Georgia"/>
              </a:rPr>
              <a:t>La gestion des risques transforme une peur générale en scénarios discutables, priorisables et traitables. ISO 27005 donne le cadre ; EBIOS RM fournit une méthode concrète par ateliers.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5296" y="5440680"/>
            <a:ext cx="1097280" cy="3175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5532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E4CB86"/>
                </a:solidFill>
                <a:latin typeface="Calibri"/>
              </a:rPr>
              <a:t>Module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 i="0">
                <a:solidFill>
                  <a:srgbClr val="223850"/>
                </a:solidFill>
                <a:latin typeface="Georgia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A24A"/>
                </a:solidFill>
                <a:latin typeface="Calibri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NIST CSF 2.0 et autres référentiels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743200"/>
            <a:ext cx="164592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E4CB86"/>
                </a:solidFill>
                <a:latin typeface="Calibri"/>
              </a:rPr>
              <a:t>Comparer, cartographier et utiliser plusieurs cadres de sécurité sans se perdre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E78"/>
                </a:solidFill>
                <a:latin typeface="Calibri"/>
              </a:rPr>
              <a:t>AU PROGRAMME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NIST CSF 2.0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Core, Profiles, Tiers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CIS Controls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OWASP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COBIT / ITIL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Mappings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CE QUE VOUS SAUREZ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Objectifs du module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922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Présenter les composants du NIST Cybersecurity Framework 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4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9572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Expliquer les 6 fonctions : Govern, Identify, Protect, Detect, Respond, Recover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9923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Utiliser les profils current/target pour prioriser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6027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Situer CIS Controls, OWASP, COBIT, PCI DSS et SOC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062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Construire une cartographie entre référentiels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CADRE FLEXIBLE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NIST CSF 2.0 : les composants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745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361188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3115970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Core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Taxonomie d'objectifs de cybersécurité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828800"/>
            <a:ext cx="352745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828800"/>
            <a:ext cx="100584" cy="361188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442" y="1975104"/>
            <a:ext cx="3115970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Profiles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État courant et état cible adaptés à l'organisation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5604" y="1828800"/>
            <a:ext cx="352745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5604" y="1828800"/>
            <a:ext cx="100584" cy="3611880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9924" y="1975104"/>
            <a:ext cx="3115970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Tiers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Maturité de gouvernance et gestion du risque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CSF 2.0 est volontaire et non prescriptif : il décrit des résultats attendus, pas une check-list unique.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CYCLE CYBER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Les 6 fonctions du NIST CSF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Govern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Stratégie, rôles, politiques, supply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828800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442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Identify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Actifs, risques, améliorations, contexte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5604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5604" y="1828800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9924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Protect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Accès, formation, données, plateformes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62756"/>
            <a:ext cx="100584" cy="1677924"/>
          </a:xfrm>
          <a:prstGeom prst="rect">
            <a:avLst/>
          </a:prstGeom>
          <a:solidFill>
            <a:srgbClr val="C2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Detect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Surveillance et détection d'événements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2122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3762756"/>
            <a:ext cx="100584" cy="167792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6442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Respond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Gestion et communication d'incident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5604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5604" y="3762756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9924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Recover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Rétablissement et amélioration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La fonction Govern a été ajoutée dans CSF 2.0 pour rendre visible la gouvernance.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CURRENT →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Créer un profil CSF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Définir l'activité ou le périmètre évalué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Current profile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Décrire l'état actuel face aux outcomes CSF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Target profile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Définir l'état cible selon risques et obligations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Gap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Identifier écarts et priorités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Roadmap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Planifier les actions et mesurer les progrès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NIVEAUX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Tiers CSF : maturité de gestion du risque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1 · Partial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Pratiques ad hoc, peu formalisées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2 · Risk informed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Risques connus mais approche pas toujours répétable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3 · Repeatable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Processus formalisés, gouvernance établie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4 · Adaptive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Amélioration continue, anticipation et adaptation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85216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85216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Les Tiers ne sont pas une note de performance ; ils aident à choisir un niveau adapté au contexte.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TRADUIRE LES CADRES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Mapping ISO 27001 ↔ NIST CSF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Besoin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Lecture ISO / NIST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Gouvernance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ISO clauses 4-6 ↔ CSF Govern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Inventaire actifs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ISO A.5.9 ↔ CSF Identify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Accès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ISO A.5.15/A.8.2 ↔ CSF Protect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Logs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ISO A.8.15/A.8.16 ↔ CSF Detect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0118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Incident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90118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90118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ISO A.5.24-5.28 ↔ CSF Respond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4126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55412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Continuité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98852" y="554126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5156" y="55412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ISO A.5.29/A.5.30 ↔ CSF Recover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HYGIÈNE OPÉRATIONNELLE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CIS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Priorisé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Mesures concrètes classées pour démarrer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204368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Technique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Inventaire, configuration, vulnérabilités,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28516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Groupes IG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Implementation Groups adaptés à la maturité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4128516"/>
            <a:ext cx="100584" cy="20436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Complément ISO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Très utile pour opérationnaliser les exigences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SÉCURITÉ APPLICATIVE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OWASP, SAMM, ASVS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745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36118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3115970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OWASP Top 10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Risques applicatifs les plus courants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828800"/>
            <a:ext cx="352745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828800"/>
            <a:ext cx="100584" cy="361188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442" y="1975104"/>
            <a:ext cx="3115970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ASVS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Exigences de vérification applicative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5604" y="1828800"/>
            <a:ext cx="352745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5604" y="1828800"/>
            <a:ext cx="100584" cy="361188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9924" y="1975104"/>
            <a:ext cx="3115970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SAMM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Modèle de maturité du développement sécurisé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Pour les applications, ISO 27002 donne le cadre ; OWASP donne le détail opérationnel.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AUTRES CADRES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COBIT, ITIL, PCI DSS, SOC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COBIT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Gouvernance et management de l'IT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204368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ITIL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Gestion des services IT et processus opérationnels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28516"/>
            <a:ext cx="100584" cy="20436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PCI DSS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Exigences pour les données de cartes de paiement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4128516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SOC 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Rapport d'assurance sur contrôles de service (Trust Services Criteria)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MULTI-RÉFÉRENTIELS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Méthode pour ne pas se perdre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Périmètre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Quel service, données, organisation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Obligatoire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Quelles lois ou exigences client s'imposent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Référence principale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Choisir le cadre de pilotage : souvent ISO ou NIST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Mappings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Relier les autres cadres aux contrôles existants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Preuves communes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Mutualiser preuves, audits et indicateurs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✎  Travaux dirigés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0" y="457200"/>
            <a:ext cx="1490472" cy="457200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0" y="457200"/>
            <a:ext cx="1490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⏱  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1B2A"/>
                </a:solidFill>
                <a:latin typeface="Georgia"/>
              </a:rPr>
              <a:t>TD — Construire un profil NIST CSF simplifié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C2733"/>
                </a:solidFill>
                <a:latin typeface="Calibri"/>
              </a:rPr>
              <a:t>Pour une PME qui subit beaucoup de phishing, créer un mini Current/Target Profile.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066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Choisir 8 outcomes répartis sur Govern, Protect, Detect, Respond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7355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Décrire l'état actuel en une phrase par outcome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7705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4048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Définir l'état cible et le Tier souhaité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43983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25695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07407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Prioriser 5 actions de progression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02352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02352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4CB86"/>
                </a:solidFill>
                <a:latin typeface="Calibri"/>
              </a:rPr>
              <a:t>Livrable attendu : Tableau current → target → actions.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7A24A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223850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98755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FFFFFF"/>
                </a:solidFill>
                <a:latin typeface="Georgia"/>
              </a:rPr>
              <a:t>Le NIST CSF 2.0 aide à communiquer et prioriser. ISO structure le SMSI, CIS et OWASP opérationnalisent, COBIT/ITIL gouvernent l'IT : l'enjeu est de cartographier plutôt que d'empiler.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5296" y="5440680"/>
            <a:ext cx="1097280" cy="3175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5532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E4CB86"/>
                </a:solidFill>
                <a:latin typeface="Calibri"/>
              </a:rPr>
              <a:t>Module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 i="0">
                <a:solidFill>
                  <a:srgbClr val="223850"/>
                </a:solidFill>
                <a:latin typeface="Georgia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A24A"/>
                </a:solidFill>
                <a:latin typeface="Calibri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Politiques de sécurité et mesures concrètes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743200"/>
            <a:ext cx="164592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E4CB86"/>
                </a:solidFill>
                <a:latin typeface="Calibri"/>
              </a:rPr>
              <a:t>Passer des référentiels aux règles applicables dans l'organisation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E78"/>
                </a:solidFill>
                <a:latin typeface="Calibri"/>
              </a:rPr>
              <a:t>AU PROGRAMME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PSSI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IAM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Classification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Cryptographie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Journalisation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Vulnérabilités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Fournisseurs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CE QUE VOUS SAUREZ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Objectifs du module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922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Structurer une politique de sécurité et ses documents associés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4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9572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Définir les règles essentielles d'accès, d'identité et de privilèges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9923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Relier classification de l'information et mesures de protection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6027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Comprendre les exigences de chiffrement, logs, vulnérabilités et fournisseurs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062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Produire une procédure simple et audit-able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Hiérarchie documentaire sécurité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Politique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Engagements de haut niveau approuvés par la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Standards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Règles obligatoires par domaine : mots de passe, cloud,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Procédures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Modes opératoires répétables : créer un compte, traiter un incident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Guides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Aide pratique et recommandations pour les utilisateurs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Enregistrements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Preuves : tickets, journaux, revues, attestations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CONTRÔLE FONDAMENTAL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IAM : gérer les identités et accès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204368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Joiner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Créer l'identité et les droits à l'arrivée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828800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828800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442" y="1975104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Mover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Modifier les droits lors d'un changement de poste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5604" y="1828800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5604" y="1828800"/>
            <a:ext cx="100584" cy="20436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9924" y="1975104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Leaver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Révoquer immédiatement au départ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28516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28516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74820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MFA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Ajouter un facteur d'authentification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2122" y="4128516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4128516"/>
            <a:ext cx="100584" cy="20436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6442" y="4274820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PAM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Contrôler les comptes à privilèges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5604" y="4128516"/>
            <a:ext cx="3527450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5604" y="4128516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9924" y="4274820"/>
            <a:ext cx="3115970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Revue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Vérifier régulièrement les droits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ACCÈS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Moindre privilège vs privilèges permanents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94960" cy="5486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65376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Risque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4937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03A2E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Comptes admin utilisés au quotidien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03A2E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Droits jamais retirés après mutation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03A2E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Comptes partagés sans traçabilité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03A2E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Prestataires avec accès trop larges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828800"/>
            <a:ext cx="5394960" cy="54864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65376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Bonne pratique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42032"/>
            <a:ext cx="4937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Droits just-in-time ou limités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Revue périodique par le métier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Comptes nominatifs et journaux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F7E78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Accès prestataire bornés et surveillés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PROTÉGER SELON LA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Classification de l'information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2043684"/>
          </a:xfrm>
          <a:prstGeom prst="rect">
            <a:avLst/>
          </a:prstGeom>
          <a:solidFill>
            <a:srgbClr val="636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Public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Diffusion sans dommage significatif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Interne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Usage réservé à l'organisation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28516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Confidentiel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Impact fort en cas de divulgation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4128516"/>
            <a:ext cx="100584" cy="20436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Secret / très sensible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Accès très restreint, mesures renforcées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MESURE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Cryptographie : objectifs et limites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Chiffrement en transit : protéger les échanges (TLS, VPN)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Chiffrement au repos : protéger fichiers, disques, bases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Gestion des clés : création, stockage, rotation, révocation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Signature : garantir origine et intégrité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C7A24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La cryptographie ne corrige pas une mauvaise gestion des accès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E78"/>
                </a:solidFill>
                <a:latin typeface="Calibri"/>
              </a:rPr>
              <a:t>DÉTECTER ET PROUVER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Journalisation et supervision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Logs d'authentification, administration, accès aux données sensibles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Horodatage fiable et synchronisation des systèmes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Protection des journaux contre modification et suppression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Analyse : alertes, corrélation, tableaux de bord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Conservation proportionnée aux obligations et risques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Sans logs, on ne sait ni détecter, ni enquêter, ni prouver.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CYCLE OPÉRATIONNEL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Gestion des vulnérabilités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Inventorier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Savoir quels actifs et versions existent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Scanner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Identifier vulnérabilités et mauvaises configurations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Prioriser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Selon criticité, exposition, exploitabilité, métier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Corriger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Patch, configuration, mitigation ou exception formelle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Vérifier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Contrôler que la correction est effective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Sécurité fournisseurs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Avant contrat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Évaluer criticité, données, accès, maturité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Contrat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Clauses sécurité, audit, incident, sous-traitance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62756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62756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09060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Pendant service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Suivi, revues, changements, indicateurs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3762756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3762756"/>
            <a:ext cx="100584" cy="167792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3909060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Fin de contrat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Réversibilité, restitution, suppression des données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Un fournisseur critique devient une extension du système d'information.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56A9A"/>
                </a:solidFill>
                <a:latin typeface="Calibri"/>
              </a:rPr>
              <a:t>HUMAIN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Sensibilisation : changer les comportements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Former selon les rôles : utilisateurs, développeurs, administrateurs, direction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Répéter régulièrement plutôt qu'une session unique annuelle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Utiliser des exemples réalistes : phishing, données, télétravail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Mesurer : taux de clic, signalements, quiz, incidents évités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356A9A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Valoriser les signalements plutôt que punir l'erreur de bonne foi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✎  Travaux dirigés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0" y="457200"/>
            <a:ext cx="1490472" cy="457200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0" y="457200"/>
            <a:ext cx="1490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⏱  50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1B2A"/>
                </a:solidFill>
                <a:latin typeface="Georgia"/>
              </a:rPr>
              <a:t>TD — Rédiger une procédure audit-able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C2733"/>
                </a:solidFill>
                <a:latin typeface="Calibri"/>
              </a:rPr>
              <a:t>Rédiger une procédure courte de création/suppression de compte utilisateur.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066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Définir objectif, périmètre, rôles et responsabilités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7355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Lister les étapes joiner/mover/leaver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7705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4048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Indiquer les preuves à conserver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43983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25695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07407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Ajouter un contrôle périodique de revue des droits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02352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02352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4CB86"/>
                </a:solidFill>
                <a:latin typeface="Calibri"/>
              </a:rPr>
              <a:t>Livrable attendu : Procédure d'une page + liste des preuves.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7A24A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223850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98755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FFFFFF"/>
                </a:solidFill>
                <a:latin typeface="Georgia"/>
              </a:rPr>
              <a:t>Les politiques transforment les normes en règles locales. Une bonne règle est comprise, applicable, reliée à un risque et vérifiable par des preuves.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5296" y="5440680"/>
            <a:ext cx="1097280" cy="3175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5532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E4CB86"/>
                </a:solidFill>
                <a:latin typeface="Calibri"/>
              </a:rPr>
              <a:t>Module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 i="0">
                <a:solidFill>
                  <a:srgbClr val="223850"/>
                </a:solidFill>
                <a:latin typeface="Georgia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A24A"/>
                </a:solidFill>
                <a:latin typeface="Calibri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Audit, conformité et cadre juridique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743200"/>
            <a:ext cx="164592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E4CB86"/>
                </a:solidFill>
                <a:latin typeface="Calibri"/>
              </a:rPr>
              <a:t>Prouver, vérifier et respecter les obligations de sécurité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E78"/>
                </a:solidFill>
                <a:latin typeface="Calibri"/>
              </a:rPr>
              <a:t>AU PROGRAMME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Audit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Preuves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Non-conformités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RGPD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NIS2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DORA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Conformité intégrée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CE QUE VOUS SAUREZ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Objectifs du module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922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Expliquer le déroulement d'un audit de sécurité ou de certification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4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9572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Identifier les types de preuves attendues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9923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Distinguer non-conformité, observation et opportunité d'amélioration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6027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Résumer les exigences clés RGPD, NIS2 et DORA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062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Construire une approche de conformité intégrée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Déroulement d'un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Planifier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Objectif, périmètre, critères, programme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Préparer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Demander documents, échantillons, interlocuteurs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Collecter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Entretiens, preuves, observations,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Conclure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Constats, non-conformités, niveau de confiance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Suivre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Plan d'action et vérification de clôture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DÉMONTRER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Types de preuves d'audit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Preuve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Exemple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Documentaire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Politique, procédure, SoA, registre de risques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Enregistrement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Ticket, log, compte rendu de revue, rapport de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Entretien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Explication cohérente par un responsable ou opérateur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Observation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Constat direct d'une configuration ou pratique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0118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Échantillon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90118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90118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Vérification sur quelques cas représentatifs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85216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85216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La meilleure preuve combine document, pratique observée et enregistrement.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CONSTATS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Non-conformité majeure vs mineure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94960" cy="5486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65376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Majeure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4937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03A2E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Exigence absente ou non maîtrisée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03A2E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Risque important non traité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03A2E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Répétition d'écarts similaires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B03A2E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Peut bloquer une certification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828800"/>
            <a:ext cx="5394960" cy="54864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65376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Mineure / observation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42032"/>
            <a:ext cx="4937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Écart ponctuel ou partiel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Processus existant mais perfectible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Amélioration recommandée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Plan d'action suivi requis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E78"/>
                </a:solidFill>
                <a:latin typeface="Calibri"/>
              </a:rPr>
              <a:t>PRATIQUE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Réussir un entretien d'audit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Répondre factuellement, sans inventer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Montrer les preuves plutôt que promettre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Dire « je vérifie » si l'information manque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Relier la pratique au risque et à la procédure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2F7E78"/>
                </a:solidFill>
                <a:latin typeface="Calibri"/>
              </a:rPr>
              <a:t>◆  </a:t>
            </a:r>
            <a:r>
              <a:rPr sz="1800">
                <a:solidFill>
                  <a:srgbClr val="1C2733"/>
                </a:solidFill>
                <a:latin typeface="Calibri"/>
              </a:rPr>
              <a:t>Ne pas cacher un écart : expliquer le plan de correction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DONNÉES PERSONNELLES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RGPD : principes clés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Licéité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Base légale et information des personnes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828800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442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Minimisation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Collecter seulement le nécessaire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5604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5604" y="1828800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9924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Exactitude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Données à jour et rectifiables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62756"/>
            <a:ext cx="100584" cy="1677924"/>
          </a:xfrm>
          <a:prstGeom prst="rect">
            <a:avLst/>
          </a:prstGeom>
          <a:solidFill>
            <a:srgbClr val="C2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Durée limitée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Conserver selon une durée justifiée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2122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3762756"/>
            <a:ext cx="100584" cy="167792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6442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Sécurité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Mesures techniques et organisationnelles appropriées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5604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5604" y="3762756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9924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Droits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Accès, rectification, effacement, opposition…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Le RGPD demande une sécurité proportionnée au risque pour les personnes.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RGPD : sécurité et responsabilité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Élément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Exigence pratique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Registre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Documenter les traitements et finalités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DPIA / AIPD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Analyser les risques élevés pour les personnes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Violation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Notifier si risque pour les droits et libertés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Sous-traitants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Contrats, instructions, sécurité, assistance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0118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Privacy by design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90118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90118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Intégrer la protection dès la conception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EUROPE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NIS2 : logique générale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Champ élargi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18 secteurs critiques ou importants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Mesures de risque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Politiques, incident, continuité, supply chain, MFA…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62756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62756"/>
            <a:ext cx="100584" cy="167792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09060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Notification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Incidents significatifs selon calendrier national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3762756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3762756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3909060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Responsabilité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Management impliqué, supervision renforcée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NIS2 est une directive : chaque État membre la transpose dans son droit national.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SECTEUR FINANCIER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DORA : résilience numérique financière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ICT risk management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Cadre complet de gestion des risques 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167792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Incident reporting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Classification et notification des incidents majeurs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62756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62756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09060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Testing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Tests de résilience, dont TLPT pour certains acteurs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3762756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3762756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3909060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Third-party risk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Exigences contractuelles et supervision des prestataires ICT critiques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DORA est un règlement directement applicable au secteur financier depuis janvier 2025.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ÉVITER LES SILOS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Conformité intégrée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Inventaire obligations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Lois, contrats, normes, exigences clients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Mapping contrôles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Relier exigences à des contrôles communs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Preuves mutualisées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Un même ticket ou rapport sert plusieurs exigences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Calendrier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Audits, revues, renouvellements,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Pilotage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Tableau de bord conformité et risques résiduels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✎  Travaux dirigés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0" y="457200"/>
            <a:ext cx="1490472" cy="457200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0" y="457200"/>
            <a:ext cx="1490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⏱  50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1B2A"/>
                </a:solidFill>
                <a:latin typeface="Georgia"/>
              </a:rPr>
              <a:t>TD — Préparer une checklist d'audit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C2733"/>
                </a:solidFill>
                <a:latin typeface="Calibri"/>
              </a:rPr>
              <a:t>Créer une checklist d'audit pour la gestion des accès d'une application sensible.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066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Définir 6 critères d'audit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7355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Associer une preuve attendue à chaque critère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7705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4048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Prévoir 3 questions d'entretien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43983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25695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07407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Classer les constats possibles : majeur, mineur, observation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02352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02352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4CB86"/>
                </a:solidFill>
                <a:latin typeface="Calibri"/>
              </a:rPr>
              <a:t>Livrable attendu : Checklist : critère → preuve → question → risque.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7A24A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223850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98755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FFFFFF"/>
                </a:solidFill>
                <a:latin typeface="Georgia"/>
              </a:rPr>
              <a:t>L'audit transforme les promesses en preuves. Le droit impose des obligations, mais un SMSI bien construit permet de répondre à plusieurs cadres avec des contrôles communs.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5296" y="5440680"/>
            <a:ext cx="1097280" cy="3175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5532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E4CB86"/>
                </a:solidFill>
                <a:latin typeface="Calibri"/>
              </a:rPr>
              <a:t>Module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 i="0">
                <a:solidFill>
                  <a:srgbClr val="223850"/>
                </a:solidFill>
                <a:latin typeface="Georgia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A24A"/>
                </a:solidFill>
                <a:latin typeface="Calibri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Sécurité opérationnelle, DevSecOps, Cloud et résilience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743200"/>
            <a:ext cx="164592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E4CB86"/>
                </a:solidFill>
                <a:latin typeface="Calibri"/>
              </a:rPr>
              <a:t>Faire fonctionner la sécurité au quotidien et préparer l'organisation aux incidents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E78"/>
                </a:solidFill>
                <a:latin typeface="Calibri"/>
              </a:rPr>
              <a:t>AU PROGRAMME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SecOps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Incident response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DevSecOps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OWASP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Cloud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PCA/PRA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Indicateurs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CE QUE VOUS SAUREZ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Objectifs du module 9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922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Décrire les fonctions de sécurité opérationnelle et de SOC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4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9572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Construire un cycle simple de réponse à incident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9923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Intégrer la sécurité dans le développement logiciel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6027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Expliquer la responsabilité partagée du 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062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Définir RTO, RPO, PCA, PRA et indicateurs de pilotage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OPÉRATIONS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SecOps : sécurité au quotidien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Surveiller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SIEM, EDR, alertes, journaux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2122" y="1828800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442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Vulnérabilités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Scans, patch, priorisation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5604" y="1828800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5604" y="1828800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9924" y="1975104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Identités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Revues, MFA, PAM, anomalies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62756"/>
            <a:ext cx="100584" cy="167792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Incidents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Triage, escalade, containment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2122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3762756"/>
            <a:ext cx="100584" cy="1677924"/>
          </a:xfrm>
          <a:prstGeom prst="rect">
            <a:avLst/>
          </a:prstGeom>
          <a:solidFill>
            <a:srgbClr val="C2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6442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Threat intel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Veille menace et exploitation active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5604" y="3762756"/>
            <a:ext cx="3527450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5604" y="3762756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9924" y="3909060"/>
            <a:ext cx="3115970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Reporting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Indicateurs et amélioration continue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SecOps est le bras opérationnel de la gouvernance sécurité.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Réponse à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54864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Préparer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Rôles, playbooks, outils, contacts, exercices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7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39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06039"/>
            <a:ext cx="1143000" cy="54864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06039"/>
            <a:ext cx="1143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06039"/>
            <a:ext cx="9509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Détecter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Qualifier l'alerte et préserver les preuves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81527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3756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1143000" cy="54864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1143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337560"/>
            <a:ext cx="9509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Contenir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Limiter la propagation et l'impact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13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6908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1143000" cy="54864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69080"/>
            <a:ext cx="1143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069080"/>
            <a:ext cx="9509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Éradiquer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Supprimer cause racine, comptes, malware, faille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445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0060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00600"/>
            <a:ext cx="1143000" cy="54864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00600"/>
            <a:ext cx="1143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800600"/>
            <a:ext cx="9509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Rétablir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Restaurer service et surveiller le retour à la normale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760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532120"/>
            <a:ext cx="1143000" cy="54864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532120"/>
            <a:ext cx="1143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532120"/>
            <a:ext cx="9509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Apprendre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REX, corrections, mise à jour des risques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PRÊT À L'EMPLOI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Playbook d'incident : contenu minimal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Déclenchement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Quels signaux ? Qui peut déclarer l'incident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Rôles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Incident manager, technique, communication, juridique, DPO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Isoler, préserver preuve, changer secrets, restaurer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Communication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Interne, client, autorités, presse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0118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Clôture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90118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90118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Critères de retour à la normale et REX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DÉVELOPPEMENT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DevSecOps : intégrer la sécurité au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54864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Plan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Exigences sécurité et threat 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7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39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06039"/>
            <a:ext cx="1143000" cy="54864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06039"/>
            <a:ext cx="1143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06039"/>
            <a:ext cx="9509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Guides de codage, secrets, revue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81527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3756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1143000" cy="54864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1143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337560"/>
            <a:ext cx="9509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Build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SAST, dépendances, SBOM, signature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130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6908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1143000" cy="54864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69080"/>
            <a:ext cx="1143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069080"/>
            <a:ext cx="9509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Test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DAST, tests d'abus, scans conteneurs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445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0060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00600"/>
            <a:ext cx="1143000" cy="54864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00600"/>
            <a:ext cx="1143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800600"/>
            <a:ext cx="9509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Deploy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IaC sécurisé, approbations, segmentation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760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532120"/>
            <a:ext cx="1143000" cy="54864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532120"/>
            <a:ext cx="1143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532120"/>
            <a:ext cx="9509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Run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Logs, monitoring, correction continue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OWASP Top 10 : familles de risques applicatifs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1033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03327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Contrôle d'accès cassé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Droits mal appliqués côté serveur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1033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1033272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Cryptographie défaillante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Données mal protégées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18104"/>
            <a:ext cx="5419191" cy="1033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18104"/>
            <a:ext cx="100584" cy="103327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500771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Injection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SQL, commandes, expressions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3118104"/>
            <a:ext cx="5419191" cy="1033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3118104"/>
            <a:ext cx="100584" cy="1033272"/>
          </a:xfrm>
          <a:prstGeom prst="rect">
            <a:avLst/>
          </a:prstGeom>
          <a:solidFill>
            <a:srgbClr val="C2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3264408"/>
            <a:ext cx="500771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Mauvaise configuration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Services, headers, cloud, debug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07408"/>
            <a:ext cx="5419191" cy="1033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07408"/>
            <a:ext cx="100584" cy="1033272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53712"/>
            <a:ext cx="500771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Composants vulnérables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Dépendances obsolètes ou compromises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3863" y="4407408"/>
            <a:ext cx="5419191" cy="1033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3863" y="4407408"/>
            <a:ext cx="100584" cy="1033272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8183" y="4553712"/>
            <a:ext cx="5007711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Identification/auth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Sessions, mots de passe, MFA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OWASP aide à rendre concrètes les mesures ISO sur le développement sécurisé.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EXTERNALISATION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Cloud : responsabilité partagée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94960" cy="548640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65376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Fournisseur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4937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56A9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Sécurité physique datacenter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56A9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Infrastructure de base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56A9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Certaines couches réseau / hyperviseur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56A9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Disponibilité selon contrat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828800"/>
            <a:ext cx="5394960" cy="54864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65376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42032"/>
            <a:ext cx="4937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Identités, accès, clés et configurations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Données, classification, chiffrement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Architecture, journaux, supervision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7A24A"/>
                </a:solidFill>
                <a:latin typeface="Calibri"/>
              </a:rPr>
              <a:t>◆  </a:t>
            </a:r>
            <a:r>
              <a:rPr sz="1500">
                <a:solidFill>
                  <a:srgbClr val="1C2733"/>
                </a:solidFill>
                <a:latin typeface="Calibri"/>
              </a:rPr>
              <a:t>Conformité métier et paramétrage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RÉSILIENCE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PCA, PRA, RTO, RPO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204368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PCA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Plan de continuité : continuer l'activité malgré la crise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PRA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Plan de reprise : restaurer le SI après interruption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28516"/>
            <a:ext cx="100584" cy="20436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RTO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Durée maximale acceptable d'interruption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4128516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RPO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Perte maximale de données acceptable dans le temps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Construire une résilience réaliste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BIA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Identifier processus critiques et impacts d'interruption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Objectifs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Fixer RTO/RPO validés par les métiers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Architecture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Sauvegardes, redondance, modes dégradés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Procédures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Restauration, communication, priorités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Tests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Exercices réguliers et amélioration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PILOTER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Indicateurs SSI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Indicateur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Ce qu'il montre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Taux MFA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Couverture d'une mesure clé d'accès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Délai patch critique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Capacité à réduire l'exposition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MTTD / MTTR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Détection et réponse aux incidents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Taux de revues d'accès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Maîtrise du moindre privilège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0118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Tests PRA réussis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90118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90118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Résilience prouvée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4126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55412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Non-conformités ouvertes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98852" y="554126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5156" y="55412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Dette de conformité et de risque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✎  Tabletop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0" y="457200"/>
            <a:ext cx="1490472" cy="457200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0" y="457200"/>
            <a:ext cx="1490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⏱  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1B2A"/>
                </a:solidFill>
                <a:latin typeface="Georgia"/>
              </a:rPr>
              <a:t>TD — Exercice de crise ransomware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C2733"/>
                </a:solidFill>
                <a:latin typeface="Calibri"/>
              </a:rPr>
              <a:t>Simulation : le serveur de fichiers est chiffré lundi 8h30, les sauvegardes sont incertaines.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066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Définir les 5 premières décisions en 30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7355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Identifier les rôles à mobiliser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7705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4048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Lister les preuves à préserver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43983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25695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07407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Préparer un message interne aux collaborateurs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10912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92624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743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Définir les critères de retour à la normale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69279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69279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4CB86"/>
                </a:solidFill>
                <a:latin typeface="Calibri"/>
              </a:rPr>
              <a:t>Livrable attendu : Plan d'action de crise en une page.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7A24A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223850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98755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FFFFFF"/>
                </a:solidFill>
                <a:latin typeface="Georgia"/>
              </a:rPr>
              <a:t>La sécurité opérationnelle donne vie au SMSI : détecter, répondre, développer plus sûr, maîtriser le cloud et tester la continuité. Les indicateurs ferment la boucle d'amélioration.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5296" y="5440680"/>
            <a:ext cx="1097280" cy="3175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5532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E4CB86"/>
                </a:solidFill>
                <a:latin typeface="Calibri"/>
              </a:rPr>
              <a:t>Module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 i="0">
                <a:solidFill>
                  <a:srgbClr val="223850"/>
                </a:solidFill>
                <a:latin typeface="Georgi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82296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7A24A"/>
                </a:solidFill>
                <a:latin typeface="Calibri"/>
              </a:rPr>
              <a:t>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Étude de cas fil rouge et préparation à l'examen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743200"/>
            <a:ext cx="164592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E4CB86"/>
                </a:solidFill>
                <a:latin typeface="Calibri"/>
              </a:rPr>
              <a:t>Synthétiser le cours en construisant le mini-SMSI d'une organisation fictive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F7E78"/>
                </a:solidFill>
                <a:latin typeface="Calibri"/>
              </a:rPr>
              <a:t>AU PROGRAMME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Cas fil rouge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Périmètre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Risques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SoA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PSSI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Audit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7A24A"/>
                </a:solidFill>
                <a:latin typeface="Calibri"/>
              </a:rPr>
              <a:t>◆  </a:t>
            </a:r>
            <a:r>
              <a:rPr sz="1400">
                <a:solidFill>
                  <a:srgbClr val="CED8E2"/>
                </a:solidFill>
                <a:latin typeface="Calibri"/>
              </a:rPr>
              <a:t>Révision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CE QUE VOUS SAUREZ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Objectifs du module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7922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Appliquer l'ensemble du cours à une organisation fictive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32304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14016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9572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Produire un périmètre, un registre de risques et une SoA simplifiée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3580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9923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Justifier des mesures de sécurité selon ISO 27002 et NIST CSF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9312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6027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Préparer un mini-dossier d'audit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4281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24528"/>
            <a:ext cx="4023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0624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C2733"/>
                </a:solidFill>
                <a:latin typeface="Calibri"/>
              </a:rPr>
              <a:t>Réviser efficacement les notions attendues à l'examen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CAS FIL ROUGE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Organisation fictive : EduSanté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167792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Activité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Plateforme SaaS de gestion de stages en santé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167792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Données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Étudiants, conventions, évaluations, données de santé incidentes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62756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62756"/>
            <a:ext cx="100584" cy="167792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09060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Clients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Universités, hôpitaux partenaires, écoles privées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3762756"/>
            <a:ext cx="5419191" cy="16779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3762756"/>
            <a:ext cx="100584" cy="167792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3909060"/>
            <a:ext cx="5007711" cy="14218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SI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Application web cloud, SSO, base PostgreSQL, prestataire infogérance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80644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Le cas est volontairement réaliste : données sensibles, cloud, fournisseurs, exigences clients.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Livrable 1 — Périmètre SMSI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Inclure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Plateforme SaaS, production cloud, support client, processus sécurité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Interfaces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SSO universités, hôpitaux, prestataire infogérance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Exclure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Systèmes internes hors support si justification claire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Parties intéressées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Clients, étudiants, CNIL, hébergeur,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Phrase de périmètre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Formulation courte et audit-able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Livrable 2 — Valeurs métier et DICP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Valeur métier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Critère critique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Dossiers de stage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Confidentialité + intégrité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Disponibilité de la plateforme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Disponibilité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Identités et rôles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Intégrité + preuve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Conventions signées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Intégrité + preuve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0118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Historique d'accès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90118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90118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Preuve + confidentialité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85216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85216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Un même actif peut porter plusieurs critères ; justifier la priorité est important.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Livrable 3 — Registre de risques simplifié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Risque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Traitement attendu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Phishing administrateur → accès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MFA fort, PAM, sensibilisation, 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Mauvaise configuration cloud → fuite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Revue IaC, durcissement, scan CSPM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Ransomware prestataire → interruption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Clauses, sauvegardes, PRA, segmentation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Erreur développeur → vulnérabilité web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SAST, revue code, OWASP ASVS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0118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90118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Demande RGPD mal traitée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90118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90118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Procédure droits, registre, rôle DPO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Livrable 4 — Scénario EBIOS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SR/OV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Cybercriminel veut monétiser les données ou rançonner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Stratégique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Passe par un prestataire infogérance moins mature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Opérationnel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Vol VPN → mouvement latéral → exfiltration → chiffrement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Gravité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Indisponibilité plateforme + notification RGPD + perte de confiance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Mesures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PAM, segmentation, EDR, sauvegardes testées, clauses fournisseur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Livrable 5 — Mini-SoA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Mesure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Justification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A.5.23 Cloud services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Plateforme SaaS hébergée en cloud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04744"/>
            <a:ext cx="355021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0474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A.5.19 Suppliers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04744"/>
            <a:ext cx="754420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0474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Prestataire infogérance critique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68624"/>
            <a:ext cx="355021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46862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A.8.2 Privileged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468624"/>
            <a:ext cx="754420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46862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Comptes admin à fort 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32504"/>
            <a:ext cx="355021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03250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A.8.15 Logging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032504"/>
            <a:ext cx="754420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03250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Détection et preuve des accès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96384"/>
            <a:ext cx="355021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59638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A.8.28 Secure coding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8852" y="4596384"/>
            <a:ext cx="7544202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5156" y="459638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Risque applicatif web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160264"/>
            <a:ext cx="355021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5160264"/>
            <a:ext cx="327589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A.5.30 ICT readiness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98852" y="5160264"/>
            <a:ext cx="7544202" cy="5638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5156" y="5160264"/>
            <a:ext cx="7269882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Objectifs de continuité clients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85216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85216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Chaque inclusion doit être reliée à un risque ou une exigence ; chaque exclusion doit être défendable.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Livrable 6 — Pack documentaire minimal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Politique SSI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Engagements, périmètre, objectifs, responsabilités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204368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Procédure accès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Joiner/mover/leaver, MFA, revues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28516"/>
            <a:ext cx="100584" cy="20436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Procédure incident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Détection, escalade, communication, preuve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4128516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Procédure sauvegarde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RPO/RTO, tests, restauration, responsabilités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Livrable 7 — Préparer l'audit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Critères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Choisir clauses ISO 27001 et mesures Annex A à démontrer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1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52344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52344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Preuves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Rassembler politiques, tickets, logs, rapports, comptes rendus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30168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Entretiens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Préparer direction, RSSI, DevOps, support, DPO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07992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07992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Échantillons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Comptes utilisateurs, incidents, changements, sauvegardes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7A24A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85816"/>
            <a:ext cx="1109167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85816"/>
            <a:ext cx="114300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C7A2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385816"/>
            <a:ext cx="95097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E1B2A"/>
                </a:solidFill>
                <a:latin typeface="Georgia"/>
              </a:rPr>
              <a:t>Plan d'action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636F7B"/>
                </a:solidFill>
                <a:latin typeface="Calibri"/>
              </a:rPr>
              <a:t>Identifier écarts avant l'auditeur externe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F7E78"/>
                </a:solidFill>
                <a:latin typeface="Calibri"/>
              </a:rPr>
              <a:t>AVANT EXAMEN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Checklist de révision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56231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28799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733"/>
                </a:solidFill>
                <a:latin typeface="Calibri"/>
              </a:rPr>
              <a:t>Définir DICP et donner un exemple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59736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32304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733"/>
                </a:solidFill>
                <a:latin typeface="Calibri"/>
              </a:rPr>
              <a:t>Distinguer menace, vulnérabilité, risque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815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35808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733"/>
                </a:solidFill>
                <a:latin typeface="Calibri"/>
              </a:rPr>
              <a:t>Expliquer norme / méthode / règlement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85031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66743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639311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733"/>
                </a:solidFill>
                <a:latin typeface="Calibri"/>
              </a:rPr>
              <a:t>Citer les clauses ISO 27001:2022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8853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7024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42816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733"/>
                </a:solidFill>
                <a:latin typeface="Calibri"/>
              </a:rPr>
              <a:t>Expliquer SoA et registre de risques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9204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73752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46320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733"/>
                </a:solidFill>
                <a:latin typeface="Calibri"/>
              </a:rPr>
              <a:t>Présenter les 4 thèmes ISO 27002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74519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856231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1828799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733"/>
                </a:solidFill>
                <a:latin typeface="Calibri"/>
              </a:rPr>
              <a:t>Dérouler les 5 ateliers EBIOS 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478024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459736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432304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733"/>
                </a:solidFill>
                <a:latin typeface="Calibri"/>
              </a:rPr>
              <a:t>Présenter les 6 fonctions NIST CSF 2.0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0815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06324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035808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733"/>
                </a:solidFill>
                <a:latin typeface="Calibri"/>
              </a:rPr>
              <a:t>Donner les principes RGPD, NIS2, DORA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685031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666743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639311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733"/>
                </a:solidFill>
                <a:latin typeface="Calibri"/>
              </a:rPr>
              <a:t>Décrire audit, preuves, non-conformités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28853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27024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242816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733"/>
                </a:solidFill>
                <a:latin typeface="Calibri"/>
              </a:rPr>
              <a:t>Expliquer PCA/PRA/RTO/RPO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89204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873752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846320"/>
            <a:ext cx="4937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C2733"/>
                </a:solidFill>
                <a:latin typeface="Calibri"/>
              </a:rPr>
              <a:t>Justifier une mesure par un risque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852160"/>
            <a:ext cx="91440" cy="566928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85216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Savoir réciter ne suffit pas : l'examen demandera d'appliquer les notions à un cas.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ÉVALUATION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Structure indicative de l'examen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5021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28800"/>
            <a:ext cx="327589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Partie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8852" y="1828800"/>
            <a:ext cx="7544202" cy="512064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5156" y="1828800"/>
            <a:ext cx="726988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Compétence évaluée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4086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Questions courtes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8852" y="234086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5156" y="234086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Définitions : DICP, SMSI, SoA, RTO, NIS2…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8094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8094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Analyse de 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852" y="298094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5156" y="298094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Identifier actifs, risques, impacts, mesures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21024"/>
            <a:ext cx="355021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62102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Mini-audit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8852" y="3621024"/>
            <a:ext cx="754420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5156" y="362102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Associer exigence, preuve, non-conformité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61104"/>
            <a:ext cx="355021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261104"/>
            <a:ext cx="327589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1B2A"/>
                </a:solidFill>
                <a:latin typeface="Calibri"/>
              </a:rPr>
              <a:t>Question de synthèse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8852" y="4261104"/>
            <a:ext cx="7544202" cy="640080"/>
          </a:xfrm>
          <a:prstGeom prst="rect">
            <a:avLst/>
          </a:prstGeom>
          <a:solidFill>
            <a:srgbClr val="EFEBE1"/>
          </a:solidFill>
          <a:ln w="635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5156" y="4261104"/>
            <a:ext cx="726988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Comparer ISO 27001, ISO 27002, NIST CSF, EBIOS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852160"/>
            <a:ext cx="91440" cy="566928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85216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E1B2A"/>
                </a:solidFill>
                <a:latin typeface="Calibri"/>
              </a:rPr>
              <a:t>La meilleure préparation est de refaire les TD et de savoir justifier ses choix.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POUR ALLER PLUS LOIN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0E1B2A"/>
                </a:solidFill>
                <a:latin typeface="Georgia"/>
              </a:rPr>
              <a:t>Ressources fiables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609344"/>
            <a:ext cx="1371600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0584" cy="204368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ISO/IEC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Famille 27000, 27001, 27002, 27005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828800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863" y="1828800"/>
            <a:ext cx="100584" cy="2043684"/>
          </a:xfrm>
          <a:prstGeom prst="rect">
            <a:avLst/>
          </a:prstGeom>
          <a:solidFill>
            <a:srgbClr val="356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8183" y="1975104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ANSSI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Guides d'hygiène, EBIOS RM, recommandations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28516"/>
            <a:ext cx="100584" cy="2043684"/>
          </a:xfrm>
          <a:prstGeom prst="rect">
            <a:avLst/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NIST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CSF 2.0, SP 800-53, SP 800-61, SP 800-218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4128516"/>
            <a:ext cx="5419191" cy="20436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4128516"/>
            <a:ext cx="100584" cy="20436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8183" y="4274820"/>
            <a:ext cx="5007711" cy="1787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1B2A"/>
                </a:solidFill>
                <a:latin typeface="Georgia"/>
              </a:rPr>
              <a:t>CNIL / ENISA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36F7B"/>
                </a:solidFill>
                <a:latin typeface="Calibri"/>
              </a:rPr>
              <a:t>RGPD, guides pratiques, cybersécurité européenne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7A24A"/>
                </a:solidFill>
                <a:latin typeface="Calibri"/>
              </a:rPr>
              <a:t>✎  Travaux dirigés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0" y="457200"/>
            <a:ext cx="1490472" cy="457200"/>
          </a:xfrm>
          <a:prstGeom prst="roundRect">
            <a:avLst>
              <a:gd name="adj" fmla="val 6000"/>
            </a:avLst>
          </a:prstGeom>
          <a:solidFill>
            <a:srgbClr val="2F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0" y="457200"/>
            <a:ext cx="149047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⏱  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1B2A"/>
                </a:solidFill>
                <a:latin typeface="Georgia"/>
              </a:rPr>
              <a:t>Projet final — Soutenance courte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1C2733"/>
                </a:solidFill>
                <a:latin typeface="Calibri"/>
              </a:rPr>
              <a:t>Chaque groupe présente son mini-SMSI EduSanté Services en 8 minutes + 4 minutes de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06624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Présenter périmètre, valeurs métier et 5 risques prioritaires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73552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Expliquer un scénario EBIOS en langage direction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7705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4048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Justifier 8 mesures ISO 27002 dans une mini-SoA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43983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25695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07407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Montrer 4 preuves attendues en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10912"/>
            <a:ext cx="384048" cy="384048"/>
          </a:xfrm>
          <a:prstGeom prst="roundRect">
            <a:avLst>
              <a:gd name="adj" fmla="val 6000"/>
            </a:avLst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92624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74336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C2733"/>
                </a:solidFill>
                <a:latin typeface="Calibri"/>
              </a:rPr>
              <a:t>Conclure par 3 priorités d'amélioration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69279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69279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E4CB86"/>
                </a:solidFill>
                <a:latin typeface="Calibri"/>
              </a:rPr>
              <a:t>Livrable attendu : Diaporama court ou fiche synthèse de 3 pages.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37376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636F7B"/>
                </a:solidFill>
                <a:latin typeface="Calibri"/>
              </a:rPr>
              <a:t>Normes et méthodes de sécurité  ·  Module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7A24A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223850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98755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FFFFFF"/>
                </a:solidFill>
                <a:latin typeface="Georgia"/>
              </a:rPr>
              <a:t>Le module 10 assemble tout : gouvernance, risque, mesures, droit, audit et opérations. La compétence centrale est de justifier une décision de sécurité de façon claire, traçable et proportionnée.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5296" y="5440680"/>
            <a:ext cx="1097280" cy="3175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5532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E4CB86"/>
                </a:solidFill>
                <a:latin typeface="Calibri"/>
              </a:rPr>
              <a:t>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38100"/>
          </a:xfrm>
          <a:prstGeom prst="rect">
            <a:avLst/>
          </a:prstGeom>
          <a:solidFill>
            <a:srgbClr val="C7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Merci de votre attention</a:t>
            </a:r>
          </a:p>
          <a:p>
            <a:pPr algn="ctr">
              <a:lnSpc>
                <a:spcPct val="105000"/>
              </a:lnSpc>
              <a:spcBef>
                <a:spcPts val="1200"/>
              </a:spcBef>
              <a:spcAft>
                <a:spcPts val="600"/>
              </a:spcAft>
            </a:pPr>
            <a:r>
              <a:rPr sz="2000" b="0" i="0">
                <a:solidFill>
                  <a:srgbClr val="CED8E2"/>
                </a:solidFill>
                <a:latin typeface="Calibri"/>
              </a:rPr>
              <a:t>Questions, échanges et retours sur le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C7A24A"/>
                </a:solidFill>
                <a:latin typeface="Calibri"/>
              </a:rPr>
              <a:t>138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