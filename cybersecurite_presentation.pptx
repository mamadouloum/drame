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12191695" cy="822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212080"/>
            <a:ext cx="12191695" cy="4572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777240"/>
            <a:ext cx="640080" cy="502920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lock Arc 6"/>
          <p:cNvSpPr/>
          <p:nvPr/>
        </p:nvSpPr>
        <p:spPr>
          <a:xfrm>
            <a:off x="932688" y="502920"/>
            <a:ext cx="420624" cy="457200"/>
          </a:xfrm>
          <a:prstGeom prst="blockArc">
            <a:avLst/>
          </a:prstGeom>
          <a:noFill/>
          <a:ln w="38100">
            <a:solidFill>
              <a:srgbClr val="1F9E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10642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F9E8F"/>
                </a:solidFill>
                <a:latin typeface="Calibri"/>
              </a:rPr>
              <a:t>LA CYBERSÉCURITÉ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Protéger ses données
à l'ère du numérique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0" i="0">
                <a:solidFill>
                  <a:srgbClr val="C7D6E6"/>
                </a:solidFill>
                <a:latin typeface="Calibri"/>
              </a:rPr>
              <a:t>Comprendre les risques et adopter les bons réflexes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40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FB3C9"/>
                </a:solidFill>
                <a:latin typeface="Calibri"/>
              </a:rPr>
              <a:t>Atelier de sensibilisation  ·  Durée : 2 heures  ·  Public : tout le monde, aucun prérequis technique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9E8F"/>
                </a:solidFill>
                <a:latin typeface="Calibri"/>
              </a:rPr>
              <a:t>BIENVENUE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Les objectifs de cet atelier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Comprendre pourquoi la cybersécurité nous concerne TOUS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Reconnaître les principales menaces du quotidien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Adopter des réflexes simples, concrets et gratuits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Savoir réagir si l'on est victime d'une attaque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Repartir avec une check-list et des ressources fiables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32120"/>
            <a:ext cx="10881360" cy="64008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5778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0F2A47"/>
                </a:solidFill>
                <a:latin typeface="Calibri"/>
              </a:rPr>
              <a:t>Aucune compétence technique requise : on parle de la vraie vie, pas de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Calibri"/>
              </a:rPr>
              <a:t>DÉROULÉ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Au programme des 2 heures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09728" cy="2011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02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Partie 1 — Comprendre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Les bases + le panorama des menaces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874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8218" y="1874519"/>
            <a:ext cx="109728" cy="2011680"/>
          </a:xfrm>
          <a:prstGeom prst="rect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2538" y="2002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Pause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~10 minutes au milieu de la séance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874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7796" y="1874519"/>
            <a:ext cx="109728" cy="201168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2116" y="2002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Partie 2 — Agir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Se protéger, cas concrets, réagir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60519"/>
            <a:ext cx="109728" cy="2011680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88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Interactif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Quiz, questions et échanges tout du long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8218" y="4160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8218" y="4160519"/>
            <a:ext cx="109728" cy="201168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2538" y="4288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Check-list finale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10 habitudes à emporter chez soi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7796" y="4160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27796" y="4160519"/>
            <a:ext cx="109728" cy="2011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02116" y="4288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Questions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On prend le temps d'y répondre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06C2B"/>
                </a:solidFill>
                <a:latin typeface="Calibri"/>
              </a:rPr>
              <a:t>À MAIN LEVÉE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Un petit sondage pour démarrer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E06C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Qui a déjà reçu un SMS ou un e-mail qui semblait suspect ?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E06C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Qui utilise (parfois) le même mot de passe sur plusieurs sites ?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E06C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Qui a déjà hésité avant de cliquer sur un lien ?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E06C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Qui a déjà eu un proche victime d'une arnaque en ligne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32120"/>
            <a:ext cx="10881360" cy="64008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5778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0F2A47"/>
                </a:solidFill>
                <a:latin typeface="Calibri"/>
              </a:rPr>
              <a:t>Si vous avez levé la main au moins une fois : vous êtes exactement au bon endroit.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1F9E8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424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Comprendre le monde numérique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  <a:spcAft>
                <a:spcPts val="600"/>
              </a:spcAft>
            </a:pPr>
            <a:r>
              <a:rPr sz="2000" b="0" i="0">
                <a:solidFill>
                  <a:srgbClr val="B9C8DA"/>
                </a:solidFill>
                <a:latin typeface="Calibri"/>
              </a:rPr>
              <a:t>De quoi parle-t-on, et pourquoi c'est important ?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88920"/>
            <a:ext cx="1463040" cy="508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Calibri"/>
              </a:rPr>
              <a:t>LE 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Notre vie est devenue numérique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2E75B6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Banque, impôts, santé, travail, école, loisirs, famille…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2E75B6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Le smartphone est devenu le prolongement de nous-mêmes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2E75B6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Nous produisons des données en permanence, souvent sans le savoir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2E75B6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Le confort du « tout en ligne » a un revers : de nouveaux risques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32120"/>
            <a:ext cx="10881360" cy="64008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5778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0F2A47"/>
                </a:solidFill>
                <a:latin typeface="Calibri"/>
              </a:rPr>
              <a:t>Plus notre vie est connectée, plus la surface exposée est grande.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sz="11000" b="1" i="0">
                <a:solidFill>
                  <a:srgbClr val="FFFFFF"/>
                </a:solidFill>
                <a:latin typeface="Calibri"/>
              </a:rPr>
              <a:t>39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966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En moyenne, une attaque informatique aurait lieu toutes les 39 secondes dans le monde</a:t>
            </a:r>
          </a:p>
          <a:p>
            <a:pPr algn="ctr">
              <a:lnSpc>
                <a:spcPct val="105000"/>
              </a:lnSpc>
              <a:spcBef>
                <a:spcPts val="800"/>
              </a:spcBef>
              <a:spcAft>
                <a:spcPts val="600"/>
              </a:spcAft>
            </a:pPr>
            <a:r>
              <a:rPr sz="1500" b="0" i="1">
                <a:solidFill>
                  <a:srgbClr val="E7EFF7"/>
                </a:solidFill>
                <a:latin typeface="Calibri"/>
              </a:rPr>
              <a:t>Chiffre illustratif souvent cité (étude Univ. du Maryland) — l'ordre de grandeur compte plus que la précision.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sz="11000" b="1" i="0">
                <a:solidFill>
                  <a:srgbClr val="FFFFFF"/>
                </a:solidFill>
                <a:latin typeface="Calibri"/>
              </a:rPr>
              <a:t>≈ 90 %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966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des cyberattaques commencent par un simple e-mail (hameçonnage)</a:t>
            </a:r>
          </a:p>
          <a:p>
            <a:pPr algn="ctr">
              <a:lnSpc>
                <a:spcPct val="105000"/>
              </a:lnSpc>
              <a:spcBef>
                <a:spcPts val="800"/>
              </a:spcBef>
              <a:spcAft>
                <a:spcPts val="600"/>
              </a:spcAft>
            </a:pPr>
            <a:r>
              <a:rPr sz="1500" b="0" i="1">
                <a:solidFill>
                  <a:srgbClr val="E7EFF7"/>
                </a:solidFill>
                <a:latin typeface="Calibri"/>
              </a:rPr>
              <a:t>La porte d'entrée n°1, c'est nous — pas une faille technique obscure.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Calibri"/>
              </a:rPr>
              <a:t>DÉFINITION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Qu'est-ce que la cybersécurité 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2E75B6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L'ensemble des moyens pour protéger nos appareils, nos comptes et nos données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2E75B6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Objectif : empêcher l'accès, le vol, la modification ou la destruction non autorisés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2E75B6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La bonne image : la sécurité d'une maison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5A6B7B"/>
                </a:solidFill>
                <a:latin typeface="Calibri"/>
              </a:rPr>
              <a:t>      –  </a:t>
            </a:r>
            <a:r>
              <a:rPr sz="1600" b="0">
                <a:solidFill>
                  <a:srgbClr val="5A6B7B"/>
                </a:solidFill>
                <a:latin typeface="Calibri"/>
              </a:rPr>
              <a:t>porte, serrure, alarme = les outils techniques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5A6B7B"/>
                </a:solidFill>
                <a:latin typeface="Calibri"/>
              </a:rPr>
              <a:t>      –  </a:t>
            </a:r>
            <a:r>
              <a:rPr sz="1600" b="0">
                <a:solidFill>
                  <a:srgbClr val="5A6B7B"/>
                </a:solidFill>
                <a:latin typeface="Calibri"/>
              </a:rPr>
              <a:t>mais surtout : fermer à clé, ne pas ouvrir à un inconnu = les comportements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32120"/>
            <a:ext cx="10881360" cy="64008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5778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0F2A47"/>
                </a:solidFill>
                <a:latin typeface="Calibri"/>
              </a:rPr>
              <a:t>80 % de la sécurité, ce sont des habitudes. La technique ne fait pas tout.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Calibri"/>
              </a:rPr>
              <a:t>VOS INFORMATIONS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Une « donnée », c'est quoi au juste 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09728" cy="2011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02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Identité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Nom, date de naissance, n° de sécu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874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8218" y="1874519"/>
            <a:ext cx="109728" cy="2011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2538" y="2002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Coordonnées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Adresse, téléphone, e-mail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874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7796" y="1874519"/>
            <a:ext cx="109728" cy="2011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2116" y="2002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Accès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Identifiants et mots de passe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60519"/>
            <a:ext cx="109728" cy="2011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88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Argent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Coordonnées bancaires, cartes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8218" y="4160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8218" y="4160519"/>
            <a:ext cx="109728" cy="201168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2538" y="4288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Vie privée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Photos, messages, contacts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7796" y="4160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27796" y="4160519"/>
            <a:ext cx="109728" cy="2011680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02116" y="4288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Traces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Localisation, historique, achats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LA CIBLE, C'EST VOUS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Pourquoi VOS données ont de la valeur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C039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« Je n'ai rien à cacher » ≠ « je n'ai rien à protéger »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C039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Les données volées se revendent (marché noir, « dark web »)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C039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Elles servent à l'usurpation d'identité et à la fraude bancaire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C039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Elles alimentent des arnaques ciblées, très crédibles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C039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Rappel : quand un service est gratuit, la donnée est souvent le produit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32120"/>
            <a:ext cx="10881360" cy="64008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5778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0F2A47"/>
                </a:solidFill>
                <a:latin typeface="Calibri"/>
              </a:rPr>
              <a:t>On ne vole pas que les célébrités : les particuliers sont des cibles faciles et rentables.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Calibri"/>
              </a:rPr>
              <a:t>LE B.A.-BA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Les 3 piliers de la sécurité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3515258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09728" cy="4297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02535"/>
            <a:ext cx="3103778" cy="406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Confidentialité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Seules les bonnes personnes accèdent à l'information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874519"/>
            <a:ext cx="3515258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8218" y="1874519"/>
            <a:ext cx="109728" cy="429768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2538" y="2002535"/>
            <a:ext cx="3103778" cy="406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Intégrité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L'information n'est pas modifiée à votre insu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874519"/>
            <a:ext cx="3515258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7796" y="1874519"/>
            <a:ext cx="109728" cy="4297680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2116" y="2002535"/>
            <a:ext cx="3103778" cy="406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Disponibilité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Vous y avez accès quand vous en avez besoin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LE PORTRAIT-ROBOT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Qui sont les attaquants 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09728" cy="2011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02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Cybercriminels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Motivés par l'argent (l'immense majorité)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874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8218" y="1874519"/>
            <a:ext cx="109728" cy="2011680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2538" y="2002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Arnaqueurs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Opportunistes, en masse et automatisés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874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7796" y="1874519"/>
            <a:ext cx="109728" cy="2011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2116" y="2002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Hacktivistes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Militent pour une cause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60519"/>
            <a:ext cx="109728" cy="201168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88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Espionnage / États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Cibles stratégiques, entreprises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8218" y="4160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8218" y="4160519"/>
            <a:ext cx="109728" cy="201168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2538" y="4288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Proches malveillants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Ex-conjoint, entourage, curieux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7796" y="4160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27796" y="4160519"/>
            <a:ext cx="109728" cy="2011680"/>
          </a:xfrm>
          <a:prstGeom prst="rect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02116" y="4288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L'erreur humaine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Pas malveillant, mais fréquent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F2A47"/>
                </a:solidFill>
                <a:latin typeface="Calibri"/>
              </a:rPr>
              <a:t>RÉALITÉ VS FICTION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Le mythe du génie encapuchonné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0F2A47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L'image du hacker seul dans le noir est trompeuse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0F2A47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La réalité : une industrie organisée, avec des « services » et de la sous-traitance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0F2A47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Des attaques automatisées qui ratissent large, 24 h/24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0F2A47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On ne vous vise pas forcément VOUS : on vise tout le monde, et on attend qui tombe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32120"/>
            <a:ext cx="10881360" cy="64008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5778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0F2A47"/>
                </a:solidFill>
                <a:latin typeface="Calibri"/>
              </a:rPr>
              <a:t>Bonne nouvelle : contre des attaques automatisées, des réflexes simples suffisent souvent.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1F9E8F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424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Les menaces les plus courantes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  <a:spcAft>
                <a:spcPts val="600"/>
              </a:spcAft>
            </a:pPr>
            <a:r>
              <a:rPr sz="2000" b="0" i="0">
                <a:solidFill>
                  <a:srgbClr val="B9C8DA"/>
                </a:solidFill>
                <a:latin typeface="Calibri"/>
              </a:rPr>
              <a:t>Reconnaître l'ennemi pour mieux s'en protéger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88920"/>
            <a:ext cx="1463040" cy="508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VUE D'ENSEMBLE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Panorama des menaces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09728" cy="2011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02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Logiciels malveillants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Virus, rançongiciels, espions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874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8218" y="1874519"/>
            <a:ext cx="109728" cy="2011680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2538" y="2002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Hameçonnage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Faux messages qui piègent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874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7796" y="1874519"/>
            <a:ext cx="109728" cy="2011680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2116" y="2002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Ingénierie sociale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Manipulation de l'humain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60519"/>
            <a:ext cx="109728" cy="2011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88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Vol de mots de passe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Comptes piratés en cascade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8218" y="4160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8218" y="4160519"/>
            <a:ext cx="109728" cy="2011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2538" y="4288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Fuites de données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Vos infos exposées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7796" y="4160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27796" y="4160519"/>
            <a:ext cx="109728" cy="2011680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02116" y="4288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Arnaques en ligne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Faux sites, faux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MENACE N°1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Les logiciels malveillants (« malwares »)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900" b="1">
                <a:solidFill>
                  <a:srgbClr val="C0392B"/>
                </a:solidFill>
                <a:latin typeface="Calibri"/>
              </a:rPr>
              <a:t>●  </a:t>
            </a:r>
            <a:r>
              <a:rPr sz="1900" b="0">
                <a:solidFill>
                  <a:srgbClr val="1B2A3A"/>
                </a:solidFill>
                <a:latin typeface="Calibri"/>
              </a:rPr>
              <a:t>Des programmes conçus pour nuire ou espionner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900" b="1">
                <a:solidFill>
                  <a:srgbClr val="C0392B"/>
                </a:solidFill>
                <a:latin typeface="Calibri"/>
              </a:rPr>
              <a:t>●  </a:t>
            </a:r>
            <a:r>
              <a:rPr sz="1900" b="0">
                <a:solidFill>
                  <a:srgbClr val="1B2A3A"/>
                </a:solidFill>
                <a:latin typeface="Calibri"/>
              </a:rPr>
              <a:t>Les grandes familles 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A6B7B"/>
                </a:solidFill>
                <a:latin typeface="Calibri"/>
              </a:rPr>
              <a:t>      –  </a:t>
            </a:r>
            <a:r>
              <a:rPr sz="1500" b="0">
                <a:solidFill>
                  <a:srgbClr val="5A6B7B"/>
                </a:solidFill>
                <a:latin typeface="Calibri"/>
              </a:rPr>
              <a:t>Virus / vers : se propagent d'un appareil à l'autre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A6B7B"/>
                </a:solidFill>
                <a:latin typeface="Calibri"/>
              </a:rPr>
              <a:t>      –  </a:t>
            </a:r>
            <a:r>
              <a:rPr sz="1500" b="0">
                <a:solidFill>
                  <a:srgbClr val="5A6B7B"/>
                </a:solidFill>
                <a:latin typeface="Calibri"/>
              </a:rPr>
              <a:t>Cheval de Troie : se cache dans un logiciel d'apparence normale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A6B7B"/>
                </a:solidFill>
                <a:latin typeface="Calibri"/>
              </a:rPr>
              <a:t>      –  </a:t>
            </a:r>
            <a:r>
              <a:rPr sz="1500" b="0">
                <a:solidFill>
                  <a:srgbClr val="5A6B7B"/>
                </a:solidFill>
                <a:latin typeface="Calibri"/>
              </a:rPr>
              <a:t>Espiogiciel (spyware) : surveille ce que vous faites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900" b="1">
                <a:solidFill>
                  <a:srgbClr val="C0392B"/>
                </a:solidFill>
                <a:latin typeface="Calibri"/>
              </a:rPr>
              <a:t>●  </a:t>
            </a:r>
            <a:r>
              <a:rPr sz="1900" b="0">
                <a:solidFill>
                  <a:srgbClr val="1B2A3A"/>
                </a:solidFill>
                <a:latin typeface="Calibri"/>
              </a:rPr>
              <a:t>Comment ils arrivent : pièce jointe, téléchargement, fausse mise à jour, clé USB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LA HANTISE DU MOMENT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Focus : les rançongiciels (ransomware)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C039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Ils chiffrent (verrouillent) vos fichiers, puis exigent une rançon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C039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Photos, documents, souvenirs : tout devient inaccessible d'un coup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C039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Ont paralysé des hôpitaux, des mairies, des écoles, des entreprises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C039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Payer ne garantit RIEN — et encourage les criminels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C039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La meilleure parade existe et elle est simple : la sauvegarde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32120"/>
            <a:ext cx="10881360" cy="64008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5778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0F2A47"/>
                </a:solidFill>
                <a:latin typeface="Calibri"/>
              </a:rPr>
              <a:t>On en reparle en Partie 2 : une bonne sauvegarde réduit un drame à un simple contretemps.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06C2B"/>
                </a:solidFill>
                <a:latin typeface="Calibri"/>
              </a:rPr>
              <a:t>À CONNAÎTRE PAR CŒUR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Le hameçonnage (phishing) — le plus fréquent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900" b="1">
                <a:solidFill>
                  <a:srgbClr val="E06C2B"/>
                </a:solidFill>
                <a:latin typeface="Calibri"/>
              </a:rPr>
              <a:t>●  </a:t>
            </a:r>
            <a:r>
              <a:rPr sz="1900" b="0">
                <a:solidFill>
                  <a:srgbClr val="1B2A3A"/>
                </a:solidFill>
                <a:latin typeface="Calibri"/>
              </a:rPr>
              <a:t>Un faux message qui imite un organisme de confiance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A6B7B"/>
                </a:solidFill>
                <a:latin typeface="Calibri"/>
              </a:rPr>
              <a:t>      –  </a:t>
            </a:r>
            <a:r>
              <a:rPr sz="1500" b="0">
                <a:solidFill>
                  <a:srgbClr val="5A6B7B"/>
                </a:solidFill>
                <a:latin typeface="Calibri"/>
              </a:rPr>
              <a:t>Banque, impôts, CAF, Ameli, La Poste, Netflix, un livreur…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900" b="1">
                <a:solidFill>
                  <a:srgbClr val="E06C2B"/>
                </a:solidFill>
                <a:latin typeface="Calibri"/>
              </a:rPr>
              <a:t>●  </a:t>
            </a:r>
            <a:r>
              <a:rPr sz="1900" b="0">
                <a:solidFill>
                  <a:srgbClr val="1B2A3A"/>
                </a:solidFill>
                <a:latin typeface="Calibri"/>
              </a:rPr>
              <a:t>But : vous faire cliquer, puis saisir vos identifiants ou payer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900" b="1">
                <a:solidFill>
                  <a:srgbClr val="E06C2B"/>
                </a:solidFill>
                <a:latin typeface="Calibri"/>
              </a:rPr>
              <a:t>●  </a:t>
            </a:r>
            <a:r>
              <a:rPr sz="1900" b="0">
                <a:solidFill>
                  <a:srgbClr val="1B2A3A"/>
                </a:solidFill>
                <a:latin typeface="Calibri"/>
              </a:rPr>
              <a:t>Il se décline sur tous les canaux 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A6B7B"/>
                </a:solidFill>
                <a:latin typeface="Calibri"/>
              </a:rPr>
              <a:t>      –  </a:t>
            </a:r>
            <a:r>
              <a:rPr sz="1500" b="0">
                <a:solidFill>
                  <a:srgbClr val="5A6B7B"/>
                </a:solidFill>
                <a:latin typeface="Calibri"/>
              </a:rPr>
              <a:t>par e-mail (phishing), par SMS (« smishing »), par téléphone (« vishing »)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06C2B"/>
                </a:solidFill>
                <a:latin typeface="Calibri"/>
              </a:rPr>
              <a:t>LES 6 SIGNAUX D'ALERTE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Anatomie d'un message piégé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09728" cy="2011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02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1. Expéditeur douteux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Adresse bizarre, imitation approximative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874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8218" y="1874519"/>
            <a:ext cx="109728" cy="2011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2538" y="2002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2. Urgence / peur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« Votre compte va être suspendu !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874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7796" y="1874519"/>
            <a:ext cx="109728" cy="2011680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2116" y="2002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3. Formulation étrange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Fautes, ton inhabituel, « Cher client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60519"/>
            <a:ext cx="109728" cy="2011680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88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4. Lien trompeur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Le texte affiché ≠ la vraie adresse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8218" y="4160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8218" y="4160519"/>
            <a:ext cx="109728" cy="2011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2538" y="4288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5. Demande sensible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Mot de passe, code, coordonnées bancaires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7796" y="4160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27796" y="4160519"/>
            <a:ext cx="109728" cy="2011680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02116" y="4288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6. Pièce jointe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Facture ou colis « à ouvrir vite 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06C2B"/>
                </a:solidFill>
                <a:latin typeface="Calibri"/>
              </a:rPr>
              <a:t>LA FAILLE, C'EST L'HUMAIN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L'ingénierie sociale : manipuler l'humain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E06C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La technique la plus efficace ne vise pas la machine… mais vous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E06C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Les leviers psychologiques exploités 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5A6B7B"/>
                </a:solidFill>
                <a:latin typeface="Calibri"/>
              </a:rPr>
              <a:t>      –  </a:t>
            </a:r>
            <a:r>
              <a:rPr sz="1600" b="0">
                <a:solidFill>
                  <a:srgbClr val="5A6B7B"/>
                </a:solidFill>
                <a:latin typeface="Calibri"/>
              </a:rPr>
              <a:t>l'urgence, la peur, l'autorité, l'appât du gain, la curiosité, la gentillesse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E06C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Exemples : faux service technique, « faux patron », faux conseiller bancaire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E06C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Un attaquant préfère vous demander la clé plutôt que de forcer la porte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32120"/>
            <a:ext cx="10881360" cy="64008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5778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0F2A47"/>
                </a:solidFill>
                <a:latin typeface="Calibri"/>
              </a:rPr>
              <a:t>Le doute est votre meilleur allié : un organisme sérieux ne vous mettra jamais la pression.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ÇA N'ARRIVE PAS QU'AUX AUTRES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Les arnaques que vous croiserez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09728" cy="2011680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02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Colis en attente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SMS « payez 1,99 € de frais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874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8218" y="1874519"/>
            <a:ext cx="109728" cy="2011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2538" y="2002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Faux support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« Votre PC est infecté, appelez…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874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7796" y="1874519"/>
            <a:ext cx="109728" cy="2011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2116" y="2002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Conseiller bancaire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« Un virement suspect, confirmez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60519"/>
            <a:ext cx="109728" cy="2011680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88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Bonnes affaires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Site qui imite une grande marque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8218" y="4160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8218" y="4160519"/>
            <a:ext cx="109728" cy="2011680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2538" y="4288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Arnaque sentimentale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Belle rencontre qui finit par un virement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7796" y="4160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27796" y="4160519"/>
            <a:ext cx="109728" cy="2011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02116" y="4288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Faux remboursement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« Les impôts vous doivent 200 € 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VOL D'IDENTIFIANTS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Le nerf de la guerre : les mots de passe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3492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349240" cy="5669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83664"/>
            <a:ext cx="4983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❌ Ce que font les attaquants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48920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●  </a:t>
            </a:r>
            <a:r>
              <a:rPr sz="1600" b="0">
                <a:solidFill>
                  <a:srgbClr val="1B2A3A"/>
                </a:solidFill>
                <a:latin typeface="Calibri"/>
              </a:rPr>
              <a:t>Réutilisent les fuites : un mot de passe volé, testé partout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●  </a:t>
            </a:r>
            <a:r>
              <a:rPr sz="1600" b="0">
                <a:solidFill>
                  <a:srgbClr val="1B2A3A"/>
                </a:solidFill>
                <a:latin typeface="Calibri"/>
              </a:rPr>
              <a:t>Devinent : prénom, date de naissance, « 123456 »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●  </a:t>
            </a:r>
            <a:r>
              <a:rPr sz="1600" b="0">
                <a:solidFill>
                  <a:srgbClr val="1B2A3A"/>
                </a:solidFill>
                <a:latin typeface="Calibri"/>
              </a:rPr>
              <a:t>Force brute : des millions d'essais automatiques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●  </a:t>
            </a:r>
            <a:r>
              <a:rPr sz="1600" b="0">
                <a:solidFill>
                  <a:srgbClr val="1B2A3A"/>
                </a:solidFill>
                <a:latin typeface="Calibri"/>
              </a:rPr>
              <a:t>Rachètent des listes d'identifiants tout prêts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3492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5349240" cy="56692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83664"/>
            <a:ext cx="4983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🎯 Pourquoi ça marche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60320"/>
            <a:ext cx="48920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9E8F"/>
                </a:solidFill>
                <a:latin typeface="Calibri"/>
              </a:rPr>
              <a:t>●  </a:t>
            </a:r>
            <a:r>
              <a:rPr sz="1600" b="0">
                <a:solidFill>
                  <a:srgbClr val="1B2A3A"/>
                </a:solidFill>
                <a:latin typeface="Calibri"/>
              </a:rPr>
              <a:t>On réutilise le même mot de passe partout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9E8F"/>
                </a:solidFill>
                <a:latin typeface="Calibri"/>
              </a:rPr>
              <a:t>●  </a:t>
            </a:r>
            <a:r>
              <a:rPr sz="1600" b="0">
                <a:solidFill>
                  <a:srgbClr val="1B2A3A"/>
                </a:solidFill>
                <a:latin typeface="Calibri"/>
              </a:rPr>
              <a:t>On choisit des mots de passe trop courts / trop simples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9E8F"/>
                </a:solidFill>
                <a:latin typeface="Calibri"/>
              </a:rPr>
              <a:t>●  </a:t>
            </a:r>
            <a:r>
              <a:rPr sz="1600" b="0">
                <a:solidFill>
                  <a:srgbClr val="1B2A3A"/>
                </a:solidFill>
                <a:latin typeface="Calibri"/>
              </a:rPr>
              <a:t>Une seule fuite ouvre alors TOUS nos comptes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9E8F"/>
                </a:solidFill>
                <a:latin typeface="Calibri"/>
              </a:rPr>
              <a:t>●  </a:t>
            </a:r>
            <a:r>
              <a:rPr sz="1600" b="0">
                <a:solidFill>
                  <a:srgbClr val="1B2A3A"/>
                </a:solidFill>
                <a:latin typeface="Calibri"/>
              </a:rPr>
              <a:t>Effet domino : e-mail piraté = tout le reste tombe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Calibri"/>
              </a:rPr>
              <a:t>HORS DE VOTRE CONTRÔLE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Les fuites de données (« data breaches »)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2E75B6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Même les grandes entreprises se font pirater leurs bases clients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2E75B6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Vos e-mail, mots de passe, numéros peuvent circuler à votre insu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2E75B6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Vous n'y pouvez rien directement… mais vous pouvez limiter les dégâts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2E75B6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Outil gratuit : « Have I Been Pwned » pour vérifier si un e-mail a fuité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32120"/>
            <a:ext cx="10881360" cy="64008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5778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0F2A47"/>
                </a:solidFill>
                <a:latin typeface="Calibri"/>
              </a:rPr>
              <a:t>D'où l'importance d'un mot de passe UNIQUE par site : une fuite reste alors isolée.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06C2B"/>
                </a:solidFill>
                <a:latin typeface="Calibri"/>
              </a:rPr>
              <a:t>EN DÉPLACEMENT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Le Wi-Fi public : pratique mais risqué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900" b="1">
                <a:solidFill>
                  <a:srgbClr val="E06C2B"/>
                </a:solidFill>
                <a:latin typeface="Calibri"/>
              </a:rPr>
              <a:t>●  </a:t>
            </a:r>
            <a:r>
              <a:rPr sz="1900" b="0">
                <a:solidFill>
                  <a:srgbClr val="1B2A3A"/>
                </a:solidFill>
                <a:latin typeface="Calibri"/>
              </a:rPr>
              <a:t>Gare, café, hôtel, aéroport : réseaux ouverts et partagés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900" b="1">
                <a:solidFill>
                  <a:srgbClr val="E06C2B"/>
                </a:solidFill>
                <a:latin typeface="Calibri"/>
              </a:rPr>
              <a:t>●  </a:t>
            </a:r>
            <a:r>
              <a:rPr sz="1900" b="0">
                <a:solidFill>
                  <a:srgbClr val="1B2A3A"/>
                </a:solidFill>
                <a:latin typeface="Calibri"/>
              </a:rPr>
              <a:t>Un tiers mal intentionné peut parfois « écouter » le trafic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900" b="1">
                <a:solidFill>
                  <a:srgbClr val="E06C2B"/>
                </a:solidFill>
                <a:latin typeface="Calibri"/>
              </a:rPr>
              <a:t>●  </a:t>
            </a:r>
            <a:r>
              <a:rPr sz="1900" b="0">
                <a:solidFill>
                  <a:srgbClr val="1B2A3A"/>
                </a:solidFill>
                <a:latin typeface="Calibri"/>
              </a:rPr>
              <a:t>Faux réseaux : « Free_WiFi_Gratuit » créé par un pirate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900" b="1">
                <a:solidFill>
                  <a:srgbClr val="E06C2B"/>
                </a:solidFill>
                <a:latin typeface="Calibri"/>
              </a:rPr>
              <a:t>●  </a:t>
            </a:r>
            <a:r>
              <a:rPr sz="1900" b="0">
                <a:solidFill>
                  <a:srgbClr val="1B2A3A"/>
                </a:solidFill>
                <a:latin typeface="Calibri"/>
              </a:rPr>
              <a:t>Les bons réflexes 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A6B7B"/>
                </a:solidFill>
                <a:latin typeface="Calibri"/>
              </a:rPr>
              <a:t>      –  </a:t>
            </a:r>
            <a:r>
              <a:rPr sz="1500" b="0">
                <a:solidFill>
                  <a:srgbClr val="5A6B7B"/>
                </a:solidFill>
                <a:latin typeface="Calibri"/>
              </a:rPr>
              <a:t>éviter banque et achats, préférer le partage de connexion (4G/5G), utiliser un VPN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06C2B"/>
                </a:solidFill>
                <a:latin typeface="Calibri"/>
              </a:rPr>
              <a:t>ON TESTE 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Quiz express — vrai ou faux 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10881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109728" cy="914400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47671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❔ Le petit cadenas « https » garantit que le site est honnête.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F9E8F"/>
                </a:solidFill>
                <a:latin typeface="Calibri"/>
              </a:rPr>
              <a:t>➡ FAUX : il garantit que la connexion est chiffrée, pas que le site est fiable.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26079"/>
            <a:ext cx="10881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926079"/>
            <a:ext cx="109728" cy="914400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99231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❔ Un mot de passe très compliqué est incassable.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F9E8F"/>
                </a:solidFill>
                <a:latin typeface="Calibri"/>
              </a:rPr>
              <a:t>➡ FAUX : s'il fuite dans une base de données, sa complexité n'y change rien.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77639"/>
            <a:ext cx="10881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977639"/>
            <a:ext cx="109728" cy="914400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50791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❔ Mon smartphone n'a besoin d'aucune précaution.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1F9E8F"/>
                </a:solidFill>
                <a:latin typeface="Calibri"/>
              </a:rPr>
              <a:t>➡ FAUX : c'est l'appareil le plus personnel… donc le plus sensible.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1F9E8F"/>
                </a:solidFill>
                <a:latin typeface="Calibri"/>
              </a:rPr>
              <a:t>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424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Pause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  <a:spcAft>
                <a:spcPts val="600"/>
              </a:spcAft>
            </a:pPr>
            <a:r>
              <a:rPr sz="2000" b="0" i="0">
                <a:solidFill>
                  <a:srgbClr val="B9C8DA"/>
                </a:solidFill>
                <a:latin typeface="Calibri"/>
              </a:rPr>
              <a:t>On se retrouve dans 10 minutes — n'hésitez pas à noter vos questions !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88920"/>
            <a:ext cx="1463040" cy="508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1F9E8F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424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Se protéger au quotidien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  <a:spcAft>
                <a:spcPts val="600"/>
              </a:spcAft>
            </a:pPr>
            <a:r>
              <a:rPr sz="2000" b="0" i="0">
                <a:solidFill>
                  <a:srgbClr val="B9C8DA"/>
                </a:solidFill>
                <a:latin typeface="Calibri"/>
              </a:rPr>
              <a:t>Des réflexes simples, gratuits et efficaces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88920"/>
            <a:ext cx="1463040" cy="508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9E8F"/>
                </a:solidFill>
                <a:latin typeface="Calibri"/>
              </a:rPr>
              <a:t>L'ESSENTIEL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Si vous ne retenez que 3 choses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3515258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09728" cy="429768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02535"/>
            <a:ext cx="3103778" cy="406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Mots de passe solides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Longs, uniques, + un gestionnaire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874519"/>
            <a:ext cx="3515258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8218" y="1874519"/>
            <a:ext cx="109728" cy="429768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2538" y="2002535"/>
            <a:ext cx="3103778" cy="406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Mises à jour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Toujours faites, de préférence auto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874519"/>
            <a:ext cx="3515258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7796" y="1874519"/>
            <a:ext cx="109728" cy="429768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2116" y="2002535"/>
            <a:ext cx="3103778" cy="406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Vigilance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Réfléchir 3 secondes avant de cliquer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9E8F"/>
                </a:solidFill>
                <a:latin typeface="Calibri"/>
              </a:rPr>
              <a:t>LE SOCLE DE TOUT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Les mots de passe : erreurs vs bonnes pratiques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3492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349240" cy="5669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83664"/>
            <a:ext cx="4983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❌ À éviter absolument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48920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●  </a:t>
            </a:r>
            <a:r>
              <a:rPr sz="1600" b="0">
                <a:solidFill>
                  <a:srgbClr val="1B2A3A"/>
                </a:solidFill>
                <a:latin typeface="Calibri"/>
              </a:rPr>
              <a:t>123456, azerty, motdepasse, 0000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●  </a:t>
            </a:r>
            <a:r>
              <a:rPr sz="1600" b="0">
                <a:solidFill>
                  <a:srgbClr val="1B2A3A"/>
                </a:solidFill>
                <a:latin typeface="Calibri"/>
              </a:rPr>
              <a:t>Prénom + date de naissance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●  </a:t>
            </a:r>
            <a:r>
              <a:rPr sz="1600" b="0">
                <a:solidFill>
                  <a:srgbClr val="1B2A3A"/>
                </a:solidFill>
                <a:latin typeface="Calibri"/>
              </a:rPr>
              <a:t>Le même mot de passe partout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●  </a:t>
            </a:r>
            <a:r>
              <a:rPr sz="1600" b="0">
                <a:solidFill>
                  <a:srgbClr val="1B2A3A"/>
                </a:solidFill>
                <a:latin typeface="Calibri"/>
              </a:rPr>
              <a:t>Noté sur un post-it collé à l'écran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●  </a:t>
            </a:r>
            <a:r>
              <a:rPr sz="1600" b="0">
                <a:solidFill>
                  <a:srgbClr val="1B2A3A"/>
                </a:solidFill>
                <a:latin typeface="Calibri"/>
              </a:rPr>
              <a:t>Partagé par SMS ou par e-mail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3492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5349240" cy="56692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83664"/>
            <a:ext cx="4983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✅ À adopter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60320"/>
            <a:ext cx="48920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9E8F"/>
                </a:solidFill>
                <a:latin typeface="Calibri"/>
              </a:rPr>
              <a:t>●  </a:t>
            </a:r>
            <a:r>
              <a:rPr sz="1600" b="0">
                <a:solidFill>
                  <a:srgbClr val="1B2A3A"/>
                </a:solidFill>
                <a:latin typeface="Calibri"/>
              </a:rPr>
              <a:t>Au moins 12 à 14 caractères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9E8F"/>
                </a:solidFill>
                <a:latin typeface="Calibri"/>
              </a:rPr>
              <a:t>●  </a:t>
            </a:r>
            <a:r>
              <a:rPr sz="1600" b="0">
                <a:solidFill>
                  <a:srgbClr val="1B2A3A"/>
                </a:solidFill>
                <a:latin typeface="Calibri"/>
              </a:rPr>
              <a:t>Une « phrase de passe » facile à retenir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9E8F"/>
                </a:solidFill>
                <a:latin typeface="Calibri"/>
              </a:rPr>
              <a:t>●  </a:t>
            </a:r>
            <a:r>
              <a:rPr sz="1600" b="0">
                <a:solidFill>
                  <a:srgbClr val="1B2A3A"/>
                </a:solidFill>
                <a:latin typeface="Calibri"/>
              </a:rPr>
              <a:t>Un mot de passe DIFFÉRENT par site important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9E8F"/>
                </a:solidFill>
                <a:latin typeface="Calibri"/>
              </a:rPr>
              <a:t>●  </a:t>
            </a:r>
            <a:r>
              <a:rPr sz="1600" b="0">
                <a:solidFill>
                  <a:srgbClr val="1B2A3A"/>
                </a:solidFill>
                <a:latin typeface="Calibri"/>
              </a:rPr>
              <a:t>Stocké dans un gestionnaire dédié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9E8F"/>
                </a:solidFill>
                <a:latin typeface="Calibri"/>
              </a:rPr>
              <a:t>●  </a:t>
            </a:r>
            <a:r>
              <a:rPr sz="1600" b="0">
                <a:solidFill>
                  <a:srgbClr val="1B2A3A"/>
                </a:solidFill>
                <a:latin typeface="Calibri"/>
              </a:rPr>
              <a:t>La double authentification en plus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9E8F"/>
                </a:solidFill>
                <a:latin typeface="Calibri"/>
              </a:rPr>
              <a:t>EN PRATIQUE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Fabriquer un bon mot de passe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La méthode gagnante : la « phrase de passe »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5A6B7B"/>
                </a:solidFill>
                <a:latin typeface="Calibri"/>
              </a:rPr>
              <a:t>      –  </a:t>
            </a:r>
            <a:r>
              <a:rPr sz="1600" b="0">
                <a:solidFill>
                  <a:srgbClr val="5A6B7B"/>
                </a:solidFill>
                <a:latin typeface="Calibri"/>
              </a:rPr>
              <a:t>Prenez une phrase absurde et facile à retenir…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5A6B7B"/>
                </a:solidFill>
                <a:latin typeface="Calibri"/>
              </a:rPr>
              <a:t>      –  </a:t>
            </a:r>
            <a:r>
              <a:rPr sz="1600" b="0">
                <a:solidFill>
                  <a:srgbClr val="5A6B7B"/>
                </a:solidFill>
                <a:latin typeface="Calibri"/>
              </a:rPr>
              <a:t>« MonChatGrisMange3Croquettes! » → long, unique, mémorisable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Plus c'est long, mieux c'est (la longueur prime sur la complexité)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Une variante par site, ou mieux : laissez le gestionnaire les générer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32120"/>
            <a:ext cx="10881360" cy="64008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5778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0F2A47"/>
                </a:solidFill>
                <a:latin typeface="Calibri"/>
              </a:rPr>
              <a:t>Un mot de passe de 4 mots est plus solide ET plus simple à retenir que « P@ssw0rd! 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9E8F"/>
                </a:solidFill>
                <a:latin typeface="Calibri"/>
              </a:rPr>
              <a:t>L'OUTIL QUI CHANGE TOUT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Le gestionnaire de mots de passe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Un coffre-fort numérique qui retient tous vos mots de passe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Vous ne mémorisez plus qu'UN seul mot de passe maître (très solide)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Il en génère de longs, uniques et différents pour chaque site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Il les remplit automatiquement : plus pratique ET plus sûr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Exemples grand public : Bitwarden, KeePass, ou celui de votre navigateur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32120"/>
            <a:ext cx="10881360" cy="64008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5778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0F2A47"/>
                </a:solidFill>
                <a:latin typeface="Calibri"/>
              </a:rPr>
              <a:t>C'est LE meilleur retour sur investissement en cybersécurité pour un particulier.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9E8F"/>
                </a:solidFill>
                <a:latin typeface="Calibri"/>
              </a:rPr>
              <a:t>VOTRE MEILLEURE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La double authentification (2FA / A2F)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Un 2ᵉ facteur en plus du mot de passe : un code, une appli, une clé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Même si l'on vole votre mot de passe, le compte reste verrouillé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Les formes courantes 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5A6B7B"/>
                </a:solidFill>
                <a:latin typeface="Calibri"/>
              </a:rPr>
              <a:t>      –  </a:t>
            </a:r>
            <a:r>
              <a:rPr sz="1600" b="0">
                <a:solidFill>
                  <a:srgbClr val="5A6B7B"/>
                </a:solidFill>
                <a:latin typeface="Calibri"/>
              </a:rPr>
              <a:t>code par SMS, application (Google/Microsoft Authenticator), clé physique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À activer EN PRIORITÉ sur : e-mail, banque, réseaux sociaux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32120"/>
            <a:ext cx="10881360" cy="64008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5778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0F2A47"/>
                </a:solidFill>
                <a:latin typeface="Calibri"/>
              </a:rPr>
              <a:t>C'est comme un 2ᵉ verrou : un peu moins pratique, infiniment plus sûr.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9E8F"/>
                </a:solidFill>
                <a:latin typeface="Calibri"/>
              </a:rPr>
              <a:t>LE GESTE GRATUIT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Les mises à jour : ne pas remettre à demain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Une mise à jour corrige souvent des failles de sécurité connues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Reporter une mise à jour, c'est laisser une porte ouverte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Activez les mises à jour AUTOMATIQUES quand c'est possible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Cela concerne tout : téléphone, ordinateur, applis, box, TV, objets connectés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32120"/>
            <a:ext cx="10881360" cy="64008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5778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0F2A47"/>
                </a:solidFill>
                <a:latin typeface="Calibri"/>
              </a:rPr>
              <a:t>« Installer maintenant » plutôt que « Me le rappeler demain » : votre futur vous remerciera.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Calibri"/>
              </a:rPr>
              <a:t>FAIRE SIMPLE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Antivirus, pare-feu : que faut-il vraiment 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2E75B6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Sur ordinateur (Windows) : un antivirus reste utile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2E75B6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Windows Defender, intégré et gratuit, suffit pour la plupart des gens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2E75B6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Le pare-feu (activé par défaut) filtre les connexions : laissez-le allumé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2E75B6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Aucun logiciel ne remplace la vigilance : l'antivirus est un filet, pas un bouclier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32120"/>
            <a:ext cx="10881360" cy="64008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5778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0F2A47"/>
                </a:solidFill>
                <a:latin typeface="Calibri"/>
              </a:rPr>
              <a:t>Méfiez-vous des pop-ups « Votre PC est infecté ! » : ce sont souvent EUX, l'arnaque.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9E8F"/>
                </a:solidFill>
                <a:latin typeface="Calibri"/>
              </a:rPr>
              <a:t>LA RÈGLE 3–2–1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Les sauvegardes : votre filet de sécurité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3515258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09728" cy="429768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02535"/>
            <a:ext cx="3103778" cy="406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3 copies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L'original + 2 sauvegardes de vos données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874519"/>
            <a:ext cx="3515258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8218" y="1874519"/>
            <a:ext cx="109728" cy="429768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2538" y="2002535"/>
            <a:ext cx="3103778" cy="406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2 supports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Ex. disque externe + cloud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874519"/>
            <a:ext cx="3515258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7796" y="1874519"/>
            <a:ext cx="109728" cy="429768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2116" y="2002535"/>
            <a:ext cx="3103778" cy="406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1 hors du domicile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À l'abri du vol, de l'incendie, du ransomware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9E8F"/>
                </a:solidFill>
                <a:latin typeface="Calibri"/>
              </a:rPr>
              <a:t>LE RÉFLEXE QUI SAUVE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Pourquoi la sauvegarde change tout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Rançongiciel, vol, casse, incendie, mauvaise manipulation…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Avec une bonne sauvegarde : vous restaurez et vous continuez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Sans sauvegarde : photos et documents perdus définitivement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Testez de temps en temps que la sauvegarde fonctionne vraiment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32120"/>
            <a:ext cx="10881360" cy="64008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5778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0F2A47"/>
                </a:solidFill>
                <a:latin typeface="Calibri"/>
              </a:rPr>
              <a:t>Une sauvegarde jamais testée est une sauvegarde en laquelle on ne peut pas avoir confiance.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Calibri"/>
              </a:rPr>
              <a:t>AU QUOTIDIEN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Naviguer sur internet en sécurité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2E75B6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Vérifiez l'adresse du site (l'URL) avant de saisir quoi que ce soit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2E75B6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« https » = connexion chiffrée, mais ça ne veut pas dire « site de confiance »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2E75B6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Méfiez-vous des pop-ups, boutons « Télécharger » clignotants, fausses alertes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2E75B6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Sur un ordinateur partagé : déconnectez-vous et fermez la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PRIORITÉ ABSOLUE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Protéger sa messagerie : la clé du royaume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C039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Votre boîte e-mail sert à réinitialiser TOUS vos autres comptes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C039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La pirater = pouvoir prendre la main sur le reste (banque, réseaux…)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C039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Donc : mot de passe unique et solide + double authentification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C039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Méfiance sur les pièces jointes et les liens, même venant d'un « proche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32120"/>
            <a:ext cx="10881360" cy="64008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5778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0F2A47"/>
                </a:solidFill>
                <a:latin typeface="Calibri"/>
              </a:rPr>
              <a:t>Si vous ne sécurisez qu'un seul compte aujourd'hui, que ce soit votre e-mail.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Calibri"/>
              </a:rPr>
              <a:t>MAÎTRISER SON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Réseaux sociaux et vie privée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2E75B6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Réglez la confidentialité : qui voit vos publications ?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2E75B6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Limitez les infos publiques (adresse, lieu de travail, absences, enfants)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2E75B6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Méfiez-vous des petits quiz / jeux qui aspirent vos données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2E75B6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Ce qui est publié en ligne peut y rester… très longtemps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2E75B6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Une photo de vacances en direct annonce aussi : « la maison est vide 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1F9E8F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424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Cas concrets de la vie quotidienne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  <a:spcAft>
                <a:spcPts val="600"/>
              </a:spcAft>
            </a:pPr>
            <a:r>
              <a:rPr sz="2000" b="0" i="0">
                <a:solidFill>
                  <a:srgbClr val="B9C8DA"/>
                </a:solidFill>
                <a:latin typeface="Calibri"/>
              </a:rPr>
              <a:t>Smartphone, objets connectés, banque, enfants, télétravail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88920"/>
            <a:ext cx="1463040" cy="508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9E8F"/>
                </a:solidFill>
                <a:latin typeface="Calibri"/>
              </a:rPr>
              <a:t>CAS N°1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Votre smartphone : le plus personnel des appareils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Verrouillez-le : code à 6 chiffres (pas 0000) + empreinte / visage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N'installez des applis QUE depuis les magasins officiels (App Store, Play Store)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Vérifiez les autorisations : pourquoi cette lampe torche veut vos contacts ?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Activez la localisation à distance (« Localiser mon appareil ») en cas de perte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32120"/>
            <a:ext cx="10881360" cy="64008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5778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0F2A47"/>
                </a:solidFill>
                <a:latin typeface="Calibri"/>
              </a:rPr>
              <a:t>Un téléphone contient souvent plus d'informations sensibles qu'un ordinateur.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06C2B"/>
                </a:solidFill>
                <a:latin typeface="Calibri"/>
              </a:rPr>
              <a:t>CAS N°2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Les objets connectés (maison intelligente)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E06C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Caméras, montres, assistants vocaux, TV, thermostats, jouets…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E06C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Changez IMMÉDIATEMENT le mot de passe par défaut (souvent « admin/admin »)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E06C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Mettez-les à jour, comme le reste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E06C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Chaque objet connecté est une porte d'entrée potentielle dans votre foyer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32120"/>
            <a:ext cx="10881360" cy="64008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5778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0F2A47"/>
                </a:solidFill>
                <a:latin typeface="Calibri"/>
              </a:rPr>
              <a:t>Une caméra de surveillance mal configurée peut… servir à vous surveiller.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9E8F"/>
                </a:solidFill>
                <a:latin typeface="Calibri"/>
              </a:rPr>
              <a:t>CAS N°3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Achats et banque en ligne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Achetez sur des sites connus ; méfiez-vous des prix « trop beaux »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Utilisez une carte virtuelle ou fixez des plafonds si votre banque le permet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Surveillez régulièrement vos relevés bancaires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Votre banque ne vous demandera JAMAIS votre code ou vos codes par téléphone/SMS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32120"/>
            <a:ext cx="10881360" cy="64008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5778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0F2A47"/>
                </a:solidFill>
                <a:latin typeface="Calibri"/>
              </a:rPr>
              <a:t>Un doute sur un appel « de votre banque » ? Raccrochez et rappelez le numéro officiel.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Calibri"/>
              </a:rPr>
              <a:t>CAS N°4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Les enfants et le numérique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2E75B6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Activez le contrôle parental (temps d'écran, contenus, achats)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2E75B6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Privilégiez le dialogue et la confiance à la surveillance pure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2E75B6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Expliquez le harcèlement, les inconnus, les images qu'on ne partage pas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2E75B6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Protégez aussi LEURS données : limitez ce que vous publiez sur eux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9E8F"/>
                </a:solidFill>
                <a:latin typeface="Calibri"/>
              </a:rPr>
              <a:t>CAS N°5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Le télétravail et les usages pro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Séparez autant que possible les usages professionnels et personnels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Utilisez le réseau et le VPN fournis par l'employeur pour les accès sensibles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Ne stockez pas de documents pro sensibles n'importe où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Verrouillez votre session dès que vous quittez votre poste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1F9E8F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424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Réagir en cas de problème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  <a:spcAft>
                <a:spcPts val="600"/>
              </a:spcAft>
            </a:pPr>
            <a:r>
              <a:rPr sz="2000" b="0" i="0">
                <a:solidFill>
                  <a:srgbClr val="B9C8DA"/>
                </a:solidFill>
                <a:latin typeface="Calibri"/>
              </a:rPr>
              <a:t>Garder son calme, agir vite, savoir à qui s'adresser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88920"/>
            <a:ext cx="1463040" cy="508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06C2B"/>
                </a:solidFill>
                <a:latin typeface="Calibri"/>
              </a:rPr>
              <a:t>LES SIGNAUX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Reconnaître qu'il se passe quelque chose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E06C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Appareil anormalement lent, surchauffe, pop-ups incessants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E06C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Fichiers devenus inaccessibles ou renommés (signe de rançongiciel)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E06C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Mots de passe qui ne fonctionnent plus, connexions inconnues signalées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E06C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Vos proches reçoivent des messages étranges « de votre part »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E06C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Débits bancaires que vous ne reconnaissez pas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9E8F"/>
                </a:solidFill>
                <a:latin typeface="Calibri"/>
              </a:rPr>
              <a:t>LES BONS GESTES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Que faire immédiatement 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84048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56231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37943"/>
            <a:ext cx="4892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B2A3A"/>
                </a:solidFill>
                <a:latin typeface="Calibri"/>
              </a:rPr>
              <a:t>Garder son calme : la panique fait faire des erreurs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41448"/>
            <a:ext cx="384048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2316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404872"/>
            <a:ext cx="4892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B2A3A"/>
                </a:solidFill>
                <a:latin typeface="Calibri"/>
              </a:rPr>
              <a:t>Déconnecter l'appareil d'internet (Wi-Fi / câble)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08376"/>
            <a:ext cx="384048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90088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971800"/>
            <a:ext cx="4892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B2A3A"/>
                </a:solidFill>
                <a:latin typeface="Calibri"/>
              </a:rPr>
              <a:t>Changer ses mots de passe depuis un AUTRE appareil sain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874519"/>
            <a:ext cx="384048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856231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837943"/>
            <a:ext cx="4892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B2A3A"/>
                </a:solidFill>
                <a:latin typeface="Calibri"/>
              </a:rPr>
              <a:t>Prévenir sa banque en cas de fraude, faire opposition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441448"/>
            <a:ext cx="384048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42316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404872"/>
            <a:ext cx="4892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B2A3A"/>
                </a:solidFill>
                <a:latin typeface="Calibri"/>
              </a:rPr>
              <a:t>Conserver les preuves (captures d'écran, messages)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008376"/>
            <a:ext cx="384048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990088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971800"/>
            <a:ext cx="4892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B2A3A"/>
                </a:solidFill>
                <a:latin typeface="Calibri"/>
              </a:rPr>
              <a:t>Ne jamais payer une rançon sans avis d'un professionnel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806440"/>
            <a:ext cx="10881360" cy="566928"/>
          </a:xfrm>
          <a:prstGeom prst="round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81558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Agir vite limite les dégâts — mais agir calmement les limite encore plus.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9E8F"/>
                </a:solidFill>
                <a:latin typeface="Calibri"/>
              </a:rPr>
              <a:t>VOUS N'ÊTES PAS SEUL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À qui s'adresser (en France)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09728" cy="201168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02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cybermalveillance.gouv.fr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Aide, diagnostic, mise en relation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874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8218" y="1874519"/>
            <a:ext cx="109728" cy="201168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2538" y="2002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17Cyber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Le guichet unique d'assistance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874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7796" y="1874519"/>
            <a:ext cx="109728" cy="2011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2116" y="2002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Déposer plainte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Commissariat / gendarmerie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60519"/>
            <a:ext cx="109728" cy="2011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88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Signalement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internet-signalement.gouv.fr (Pharos)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8218" y="4160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8218" y="4160519"/>
            <a:ext cx="109728" cy="2011680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2538" y="4288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La CNIL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Pour vos données personnelles — cnil.fr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7796" y="4160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27796" y="4160519"/>
            <a:ext cx="109728" cy="2011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02116" y="4288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Votre banque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Opposition et remboursement de fraude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06C2B"/>
                </a:solidFill>
                <a:latin typeface="Calibri"/>
              </a:rPr>
              <a:t>LE CADRE LÉGAL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Vos droits : le RGPD en une diapo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E06C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Le RGPD encadre l'usage de vos données personnelles en Europe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E06C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Il vous donne des droits concrets 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5A6B7B"/>
                </a:solidFill>
                <a:latin typeface="Calibri"/>
              </a:rPr>
              <a:t>      –  </a:t>
            </a:r>
            <a:r>
              <a:rPr sz="1600" b="0">
                <a:solidFill>
                  <a:srgbClr val="5A6B7B"/>
                </a:solidFill>
                <a:latin typeface="Calibri"/>
              </a:rPr>
              <a:t>accès, rectification, effacement (« droit à l'oubli »), opposition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E06C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Votre consentement doit être libre et éclairé (cookies, newsletters…)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E06C2B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En cas d'abus : la CNIL est là pour vous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32120"/>
            <a:ext cx="10881360" cy="64008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5778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0F2A47"/>
                </a:solidFill>
                <a:latin typeface="Calibri"/>
              </a:rPr>
              <a:t>Vous avez le droit de demander à une entreprise quelles données elle détient sur vous.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1F9E8F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424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Conclusion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  <a:spcAft>
                <a:spcPts val="600"/>
              </a:spcAft>
            </a:pPr>
            <a:r>
              <a:rPr sz="2000" b="0" i="0">
                <a:solidFill>
                  <a:srgbClr val="B9C8DA"/>
                </a:solidFill>
                <a:latin typeface="Calibri"/>
              </a:rPr>
              <a:t>L'essentiel à emporter chez soi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88920"/>
            <a:ext cx="1463040" cy="508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9E8F"/>
                </a:solidFill>
                <a:latin typeface="Calibri"/>
              </a:rPr>
              <a:t>VOTRE CHECK-LIST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Les 10 bonnes habitudes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84048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56231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37943"/>
            <a:ext cx="4892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B2A3A"/>
                </a:solidFill>
                <a:latin typeface="Calibri"/>
              </a:rPr>
              <a:t>Des mots de passe longs et uniques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41448"/>
            <a:ext cx="384048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2316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404872"/>
            <a:ext cx="4892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B2A3A"/>
                </a:solidFill>
                <a:latin typeface="Calibri"/>
              </a:rPr>
              <a:t>Un gestionnaire de mots de passe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08376"/>
            <a:ext cx="384048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90088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971800"/>
            <a:ext cx="4892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B2A3A"/>
                </a:solidFill>
                <a:latin typeface="Calibri"/>
              </a:rPr>
              <a:t>La double authentification (surtout l'e-mail)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75303"/>
            <a:ext cx="384048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57015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538727"/>
            <a:ext cx="4892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B2A3A"/>
                </a:solidFill>
                <a:latin typeface="Calibri"/>
              </a:rPr>
              <a:t>Les mises à jour activées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42231"/>
            <a:ext cx="384048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23943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105655"/>
            <a:ext cx="4892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B2A3A"/>
                </a:solidFill>
                <a:latin typeface="Calibri"/>
              </a:rPr>
              <a:t>Des sauvegardes régulières (règle 3-2-1)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874519"/>
            <a:ext cx="384048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856231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1837943"/>
            <a:ext cx="4892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B2A3A"/>
                </a:solidFill>
                <a:latin typeface="Calibri"/>
              </a:rPr>
              <a:t>Réfléchir avant de cliquer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441448"/>
            <a:ext cx="384048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423160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404872"/>
            <a:ext cx="4892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B2A3A"/>
                </a:solidFill>
                <a:latin typeface="Calibri"/>
              </a:rPr>
              <a:t>Vérifier l'expéditeur et l'adresse (URL)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008376"/>
            <a:ext cx="384048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990088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2971800"/>
            <a:ext cx="4892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B2A3A"/>
                </a:solidFill>
                <a:latin typeface="Calibri"/>
              </a:rPr>
              <a:t>Prudence sur le Wi-Fi public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575303"/>
            <a:ext cx="384048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557015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538727"/>
            <a:ext cx="4892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B2A3A"/>
                </a:solidFill>
                <a:latin typeface="Calibri"/>
              </a:rPr>
              <a:t>Régler la confidentialité de ses comptes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142231"/>
            <a:ext cx="384048" cy="384048"/>
          </a:xfrm>
          <a:prstGeom prst="round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123943"/>
            <a:ext cx="3840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105655"/>
            <a:ext cx="4892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B2A3A"/>
                </a:solidFill>
                <a:latin typeface="Calibri"/>
              </a:rPr>
              <a:t>Savoir demander de l'aide sans avoir honte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806440"/>
            <a:ext cx="10881360" cy="566928"/>
          </a:xfrm>
          <a:prstGeom prst="round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81558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Aucune de ces habitudes n'est technique. Toutes sont à votre portée dès ce soir.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sz="11000" b="1" i="0">
                <a:solidFill>
                  <a:srgbClr val="FFFFFF"/>
                </a:solidFill>
                <a:latin typeface="Calibri"/>
              </a:rPr>
              <a:t>3 secondes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966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Le réflexe à retenir : dans le doute, on ne clique pas — on vérifie</a:t>
            </a:r>
          </a:p>
          <a:p>
            <a:pPr algn="ctr">
              <a:lnSpc>
                <a:spcPct val="105000"/>
              </a:lnSpc>
              <a:spcBef>
                <a:spcPts val="800"/>
              </a:spcBef>
              <a:spcAft>
                <a:spcPts val="600"/>
              </a:spcAft>
            </a:pPr>
            <a:r>
              <a:rPr sz="1500" b="0" i="1">
                <a:solidFill>
                  <a:srgbClr val="E7EFF7"/>
                </a:solidFill>
                <a:latin typeface="Calibri"/>
              </a:rPr>
              <a:t>Ces quelques secondes de recul sont votre meilleure protection, tous les jours.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Calibri"/>
              </a:rPr>
              <a:t>À GARDER SOUS LA 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Pour aller plus loin (ressources fiables)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109728" cy="201168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02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cybermalveillance.gouv.fr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Conseils et assistance officiels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874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8218" y="1874519"/>
            <a:ext cx="109728" cy="2011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2538" y="2002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cnil.fr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Vie privée et données personnelles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874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7796" y="1874519"/>
            <a:ext cx="109728" cy="2011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2116" y="2002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ssi.gouv.fr (ANSSI)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Guides pratiques de référence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60519"/>
            <a:ext cx="109728" cy="2011680"/>
          </a:xfrm>
          <a:prstGeom prst="rect">
            <a:avLst/>
          </a:prstGeom>
          <a:solidFill>
            <a:srgbClr val="E06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88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haveibeenpwned.com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Vérifier si un e-mail a fuité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8218" y="4160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8218" y="4160519"/>
            <a:ext cx="109728" cy="201168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2538" y="4288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Le gestionnaire choisi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Bitwarden, KeePass…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7796" y="4160519"/>
            <a:ext cx="351525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27796" y="4160519"/>
            <a:ext cx="109728" cy="2011680"/>
          </a:xfrm>
          <a:prstGeom prst="rect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02116" y="4288535"/>
            <a:ext cx="3103778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F2A47"/>
                </a:solidFill>
                <a:latin typeface="Calibri"/>
              </a:rPr>
              <a:t>Cet atelier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Vos notes + la check-list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9E8F"/>
                </a:solidFill>
                <a:latin typeface="Calibri"/>
              </a:rPr>
              <a:t>EN UN MOT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F2A47"/>
                </a:solidFill>
                <a:latin typeface="Calibri"/>
              </a:rPr>
              <a:t>Le message à retenir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18488"/>
            <a:ext cx="1280160" cy="381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La cybersécurité, ce n'est pas de la magie : c'est du bon sens outillé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Quelques réflexes simples éliminent l'immense majorité des risques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On ne cherche pas le risque zéro, mais à ne plus être une cible facile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2000" b="1">
                <a:solidFill>
                  <a:srgbClr val="1F9E8F"/>
                </a:solidFill>
                <a:latin typeface="Calibri"/>
              </a:rPr>
              <a:t>●  </a:t>
            </a:r>
            <a:r>
              <a:rPr sz="2000" b="0">
                <a:solidFill>
                  <a:srgbClr val="1B2A3A"/>
                </a:solidFill>
                <a:latin typeface="Calibri"/>
              </a:rPr>
              <a:t>La sécurité est un travail d'équipe : parlez-en autour de vous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532120"/>
            <a:ext cx="10881360" cy="64008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5778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0F2A47"/>
                </a:solidFill>
                <a:latin typeface="Calibri"/>
              </a:rPr>
              <a:t>Protéger ses données, c'est protéger sa tranquillité, son argent et ses proches.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B7B"/>
                </a:solidFill>
                <a:latin typeface="Calibri"/>
              </a:rPr>
              <a:t>Cybersécurité — protéger ses données à l'ère du numérique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190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82296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Merci de votre attention !</a:t>
            </a:r>
          </a:p>
          <a:p>
            <a:pPr algn="ctr">
              <a:lnSpc>
                <a:spcPct val="105000"/>
              </a:lnSpc>
              <a:spcBef>
                <a:spcPts val="1000"/>
              </a:spcBef>
              <a:spcAft>
                <a:spcPts val="600"/>
              </a:spcAft>
            </a:pPr>
            <a:r>
              <a:rPr sz="2200" b="0" i="0">
                <a:solidFill>
                  <a:srgbClr val="C7D6E6"/>
                </a:solidFill>
                <a:latin typeface="Calibri"/>
              </a:rPr>
              <a:t>Place à vos questions et à vos expériences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